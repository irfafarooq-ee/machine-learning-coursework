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82" r:id="rId3"/>
    <p:sldId id="285" r:id="rId4"/>
    <p:sldId id="286" r:id="rId5"/>
    <p:sldId id="287" r:id="rId6"/>
    <p:sldId id="288" r:id="rId7"/>
    <p:sldId id="290" r:id="rId8"/>
    <p:sldId id="291" r:id="rId9"/>
    <p:sldId id="293" r:id="rId10"/>
    <p:sldId id="294" r:id="rId11"/>
    <p:sldId id="295" r:id="rId12"/>
    <p:sldId id="289" r:id="rId13"/>
    <p:sldId id="296" r:id="rId14"/>
    <p:sldId id="299" r:id="rId15"/>
    <p:sldId id="298" r:id="rId16"/>
    <p:sldId id="300" r:id="rId17"/>
    <p:sldId id="301" r:id="rId18"/>
    <p:sldId id="302" r:id="rId19"/>
    <p:sldId id="303" r:id="rId20"/>
    <p:sldId id="304" r:id="rId21"/>
    <p:sldId id="305" r:id="rId22"/>
    <p:sldId id="306" r:id="rId23"/>
    <p:sldId id="307" r:id="rId24"/>
    <p:sldId id="281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3E61"/>
    <a:srgbClr val="4D14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D35C57-5252-4492-9CEA-0E7C1FD0ED50}" v="6" dt="2022-08-25T07:13:49.0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1" autoAdjust="0"/>
    <p:restoredTop sz="94660"/>
  </p:normalViewPr>
  <p:slideViewPr>
    <p:cSldViewPr snapToGrid="0">
      <p:cViewPr varScale="1">
        <p:scale>
          <a:sx n="82" d="100"/>
          <a:sy n="82" d="100"/>
        </p:scale>
        <p:origin x="581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8733" y="2989389"/>
            <a:ext cx="11409162" cy="3842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Subtitle 2"/>
          <p:cNvSpPr txBox="1">
            <a:spLocks/>
          </p:cNvSpPr>
          <p:nvPr/>
        </p:nvSpPr>
        <p:spPr>
          <a:xfrm>
            <a:off x="596434" y="6169591"/>
            <a:ext cx="10993546" cy="65792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000" b="1" cap="none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School of Electrical Engineering and Computer Science (SEECS),  NUST,  Pakistan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2246" y="645379"/>
            <a:ext cx="2526886" cy="2526886"/>
          </a:xfrm>
          <a:prstGeom prst="rect">
            <a:avLst/>
          </a:prstGeom>
        </p:spPr>
      </p:pic>
      <p:sp>
        <p:nvSpPr>
          <p:cNvPr id="26" name="Title 1"/>
          <p:cNvSpPr txBox="1">
            <a:spLocks/>
          </p:cNvSpPr>
          <p:nvPr/>
        </p:nvSpPr>
        <p:spPr>
          <a:xfrm>
            <a:off x="825305" y="3197135"/>
            <a:ext cx="4600136" cy="704306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dirty="0" err="1">
                <a:solidFill>
                  <a:schemeClr val="bg1"/>
                </a:solidFill>
              </a:rPr>
              <a:t>SuneelA</a:t>
            </a:r>
            <a:r>
              <a:rPr lang="en-US" sz="4400">
                <a:solidFill>
                  <a:schemeClr val="bg1"/>
                </a:solidFill>
              </a:rPr>
              <a:t> Zafar</a:t>
            </a:r>
            <a:endParaRPr lang="en-US" sz="4400" dirty="0">
              <a:solidFill>
                <a:schemeClr val="bg1"/>
              </a:solidFill>
            </a:endParaRPr>
          </a:p>
        </p:txBody>
      </p:sp>
      <p:pic>
        <p:nvPicPr>
          <p:cNvPr id="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8626" y="92762"/>
            <a:ext cx="11409162" cy="611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itle 1"/>
          <p:cNvSpPr txBox="1">
            <a:spLocks/>
          </p:cNvSpPr>
          <p:nvPr/>
        </p:nvSpPr>
        <p:spPr>
          <a:xfrm>
            <a:off x="789864" y="907364"/>
            <a:ext cx="8662730" cy="886265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800" b="1" cap="none" dirty="0">
                <a:solidFill>
                  <a:srgbClr val="2A3E61"/>
                </a:solidFill>
              </a:rPr>
              <a:t>MACHINE LEARNING LAB</a:t>
            </a:r>
          </a:p>
        </p:txBody>
      </p:sp>
      <p:sp>
        <p:nvSpPr>
          <p:cNvPr id="29" name="Title 1"/>
          <p:cNvSpPr txBox="1">
            <a:spLocks/>
          </p:cNvSpPr>
          <p:nvPr/>
        </p:nvSpPr>
        <p:spPr>
          <a:xfrm>
            <a:off x="825304" y="1779559"/>
            <a:ext cx="8662730" cy="928467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800" b="1" cap="none" dirty="0">
                <a:solidFill>
                  <a:srgbClr val="2C68B1"/>
                </a:solidFill>
              </a:rPr>
              <a:t>K-Means Clustering</a:t>
            </a:r>
          </a:p>
        </p:txBody>
      </p:sp>
    </p:spTree>
    <p:extLst>
      <p:ext uri="{BB962C8B-B14F-4D97-AF65-F5344CB8AC3E}">
        <p14:creationId xmlns:p14="http://schemas.microsoft.com/office/powerpoint/2010/main" val="401567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48640" y="295425"/>
            <a:ext cx="7512148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cap="none" dirty="0">
                <a:solidFill>
                  <a:srgbClr val="2A3E61"/>
                </a:solidFill>
              </a:rPr>
              <a:t>Features and Labels</a:t>
            </a: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548640" y="1153550"/>
            <a:ext cx="10649243" cy="4143069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Machine Learning consists of a wide variety of techniques that can be classified as Supervised, Unsupervised and Reinforcement Learning 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A machine learning dataset essentially contains: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cap="none" dirty="0">
                <a:solidFill>
                  <a:prstClr val="black"/>
                </a:solidFill>
                <a:cs typeface="Courier New" panose="02070309020205020404" pitchFamily="49" charset="0"/>
              </a:rPr>
              <a:t>Features:</a:t>
            </a: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 the input columns in the dataset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cap="none" dirty="0">
                <a:solidFill>
                  <a:prstClr val="black"/>
                </a:solidFill>
                <a:cs typeface="Courier New" panose="02070309020205020404" pitchFamily="49" charset="0"/>
              </a:rPr>
              <a:t>Labels:</a:t>
            </a: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 the output columns in the dataset</a:t>
            </a:r>
          </a:p>
          <a:p>
            <a:pPr lvl="1"/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After the model is trained on the dataset, it is used to make a prediction (inference)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To make a prediction, the user provides some new values for the features. These values are not from the dataset and are used by the trained model to give the output (prediction)</a:t>
            </a:r>
          </a:p>
        </p:txBody>
      </p:sp>
    </p:spTree>
    <p:extLst>
      <p:ext uri="{BB962C8B-B14F-4D97-AF65-F5344CB8AC3E}">
        <p14:creationId xmlns:p14="http://schemas.microsoft.com/office/powerpoint/2010/main" val="1705281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48640" y="295425"/>
            <a:ext cx="7512148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cap="none" dirty="0">
                <a:solidFill>
                  <a:srgbClr val="2A3E61"/>
                </a:solidFill>
              </a:rPr>
              <a:t>Supervised Learning</a:t>
            </a: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548640" y="1153550"/>
            <a:ext cx="10649243" cy="119571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Supervised Learning involves datasets that have both features and labels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Examples include Linear Regression, Logistic Regression, Support Vector Machines, Neural Networks etc.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79" y="2349262"/>
            <a:ext cx="5438095" cy="43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744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48640" y="295425"/>
            <a:ext cx="7512148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cap="none" dirty="0">
                <a:solidFill>
                  <a:srgbClr val="2A3E61"/>
                </a:solidFill>
              </a:rPr>
              <a:t>Unsupervised Learning</a:t>
            </a: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548640" y="1153550"/>
            <a:ext cx="10649243" cy="119571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Unsupervised Learning involves datasets with only features (no labels)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Examples include K-means Clustering, Anomaly Detection and Dimensionality Reduction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79" y="2349262"/>
            <a:ext cx="5438095" cy="433333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2094" y="2395887"/>
            <a:ext cx="5221234" cy="416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713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48640" y="295425"/>
            <a:ext cx="7512148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cap="none" dirty="0">
                <a:solidFill>
                  <a:srgbClr val="2A3E61"/>
                </a:solidFill>
              </a:rPr>
              <a:t>Unsupervised Learning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2094" y="2395887"/>
            <a:ext cx="5221234" cy="4160528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548640" y="1167922"/>
            <a:ext cx="5489851" cy="5690078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In unsupervised learning, the goal is to find patterns, groups, similarities and structure from the distribution of the dataset 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In this lab, the focus will be solely on K-Means Clustering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Clustering is used widely in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Search Engines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Market Segmentation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Social Network Analysis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Astronomical Data Analysis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Image Segmentation</a:t>
            </a:r>
          </a:p>
        </p:txBody>
      </p:sp>
    </p:spTree>
    <p:extLst>
      <p:ext uri="{BB962C8B-B14F-4D97-AF65-F5344CB8AC3E}">
        <p14:creationId xmlns:p14="http://schemas.microsoft.com/office/powerpoint/2010/main" val="2892756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48640" y="295425"/>
            <a:ext cx="7512148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cap="none" dirty="0">
                <a:solidFill>
                  <a:srgbClr val="2A3E61"/>
                </a:solidFill>
              </a:rPr>
              <a:t>K-Means Clustering</a:t>
            </a: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548640" y="1153550"/>
            <a:ext cx="10649243" cy="2003718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K-Means Clustering is a technique that is used to segment the dataset into various groupings known as “clusters”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The examples below show clustering in which each example point has a certain color showing its cluster. Black dots show the cluster </a:t>
            </a:r>
            <a:r>
              <a:rPr lang="en-US" sz="2400" i="1" cap="none" dirty="0">
                <a:solidFill>
                  <a:prstClr val="black"/>
                </a:solidFill>
                <a:cs typeface="Courier New" panose="02070309020205020404" pitchFamily="49" charset="0"/>
              </a:rPr>
              <a:t>centroids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028" y="2955492"/>
            <a:ext cx="5047498" cy="377647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4177" y="2955492"/>
            <a:ext cx="5664719" cy="3776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143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48640" y="295425"/>
            <a:ext cx="7512148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cap="none" dirty="0">
                <a:solidFill>
                  <a:srgbClr val="2A3E61"/>
                </a:solidFill>
              </a:rPr>
              <a:t>K-Means Clustering</a:t>
            </a: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548640" y="1153550"/>
            <a:ext cx="10649243" cy="119571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Before clustering starts, the programmer chooses the number of clusters denoted by 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In the example below, K = 4 is chosen; 4 centroids are randomly obtained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5656" y="2504002"/>
            <a:ext cx="5399219" cy="4039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718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48640" y="295425"/>
            <a:ext cx="7512148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cap="none" dirty="0">
                <a:solidFill>
                  <a:srgbClr val="2A3E61"/>
                </a:solidFill>
              </a:rPr>
              <a:t>K-Means Clustering</a:t>
            </a: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548640" y="1153550"/>
            <a:ext cx="10649243" cy="119571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The centroids are iteratively updated using the dataset distribution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5656" y="2504002"/>
            <a:ext cx="5399219" cy="403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690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48640" y="295425"/>
            <a:ext cx="7512148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cap="none" dirty="0">
                <a:solidFill>
                  <a:srgbClr val="2A3E61"/>
                </a:solidFill>
              </a:rPr>
              <a:t>K-Means Clustering</a:t>
            </a: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548640" y="1153550"/>
            <a:ext cx="10649243" cy="119571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The centroids are iteratively updated using the dataset distribution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5656" y="2504002"/>
            <a:ext cx="5399218" cy="403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440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48640" y="295425"/>
            <a:ext cx="7512148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cap="none" dirty="0">
                <a:solidFill>
                  <a:srgbClr val="2A3E61"/>
                </a:solidFill>
              </a:rPr>
              <a:t>K-Means Clustering</a:t>
            </a: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548640" y="1153550"/>
            <a:ext cx="10649243" cy="119571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The centroids are iteratively updated using the dataset distribution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5656" y="2504002"/>
            <a:ext cx="5399218" cy="4039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196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48640" y="295425"/>
            <a:ext cx="7512148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cap="none" dirty="0">
                <a:solidFill>
                  <a:srgbClr val="2A3E61"/>
                </a:solidFill>
              </a:rPr>
              <a:t>K-Means Clustering</a:t>
            </a: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548640" y="1153550"/>
            <a:ext cx="10649243" cy="119571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The centroids are iteratively updated using the dataset distribution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The number of iterations (epochs) is also to be chosen by the programmer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5657" y="2504002"/>
            <a:ext cx="5399216" cy="4039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550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48640" y="295425"/>
            <a:ext cx="7512148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cap="none" dirty="0">
                <a:solidFill>
                  <a:srgbClr val="2A3E61"/>
                </a:solidFill>
              </a:rPr>
              <a:t>Number of Clusters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1506246"/>
            <a:ext cx="5047498" cy="3776479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772928" y="5262108"/>
            <a:ext cx="10649243" cy="465827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				K = 2											K = 3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0385" y="1506245"/>
            <a:ext cx="5047498" cy="3776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48640" y="295425"/>
            <a:ext cx="7512148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cap="none" dirty="0">
                <a:solidFill>
                  <a:srgbClr val="2A3E61"/>
                </a:solidFill>
              </a:rPr>
              <a:t>Number of Clusters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1506246"/>
            <a:ext cx="5047498" cy="3776479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772928" y="5262108"/>
            <a:ext cx="10649243" cy="465827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				K = 5											K = 6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0385" y="1506245"/>
            <a:ext cx="5047498" cy="3776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5053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48640" y="295425"/>
            <a:ext cx="7512148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cap="none" dirty="0">
                <a:solidFill>
                  <a:srgbClr val="2A3E61"/>
                </a:solidFill>
              </a:rPr>
              <a:t>Number of Clusters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1506246"/>
            <a:ext cx="5047498" cy="3776479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772928" y="5262108"/>
            <a:ext cx="10649243" cy="465827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				K = 5											K = 6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0385" y="1506245"/>
            <a:ext cx="5047498" cy="3776479"/>
          </a:xfrm>
          <a:prstGeom prst="rect">
            <a:avLst/>
          </a:prstGeom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548640" y="5898072"/>
            <a:ext cx="10649243" cy="744266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The best value of K may be found by the “elbow method”</a:t>
            </a:r>
          </a:p>
        </p:txBody>
      </p:sp>
    </p:spTree>
    <p:extLst>
      <p:ext uri="{BB962C8B-B14F-4D97-AF65-F5344CB8AC3E}">
        <p14:creationId xmlns:p14="http://schemas.microsoft.com/office/powerpoint/2010/main" val="27314989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48640" y="295425"/>
            <a:ext cx="7512148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cap="none" dirty="0">
                <a:solidFill>
                  <a:srgbClr val="2A3E61"/>
                </a:solidFill>
              </a:rPr>
              <a:t>Clustering Algorithm</a:t>
            </a: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548640" y="1153550"/>
            <a:ext cx="10649243" cy="119571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The pseudocode for K-Means Clustering algorithm is given below: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Before the clustering, you will need to load the dataset 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You will also need to specify the epochs number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548640" y="1682393"/>
            <a:ext cx="11277600" cy="33209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293370" marR="114300" indent="-6350" algn="just">
              <a:lnSpc>
                <a:spcPct val="110000"/>
              </a:lnSpc>
              <a:spcAft>
                <a:spcPts val="0"/>
              </a:spcAft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specify K number of centroids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293370" marR="114300" indent="-6350" algn="just">
              <a:lnSpc>
                <a:spcPct val="110000"/>
              </a:lnSpc>
              <a:spcAft>
                <a:spcPts val="0"/>
              </a:spcAft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randomly initialize K number of centroids u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293370" marR="114300" indent="-6350" algn="just">
              <a:lnSpc>
                <a:spcPct val="110000"/>
              </a:lnSpc>
              <a:spcAft>
                <a:spcPts val="0"/>
              </a:spcAft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for j = 1:epochs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293370" marR="114300" indent="-6350" algn="just">
              <a:lnSpc>
                <a:spcPct val="110000"/>
              </a:lnSpc>
              <a:spcAft>
                <a:spcPts val="0"/>
              </a:spcAft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			for </a:t>
            </a:r>
            <a:r>
              <a:rPr lang="en-US" sz="2400" b="1" cap="none" dirty="0" err="1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 = 1:m		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1207770" marR="114300" indent="163830" algn="just">
              <a:lnSpc>
                <a:spcPct val="110000"/>
              </a:lnSpc>
              <a:spcAft>
                <a:spcPts val="0"/>
              </a:spcAft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c(</a:t>
            </a:r>
            <a:r>
              <a:rPr lang="en-US" sz="2400" b="1" cap="none" dirty="0" err="1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) = index of closest cluster to training example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293370" marR="114300" indent="-6350" algn="just">
              <a:lnSpc>
                <a:spcPct val="110000"/>
              </a:lnSpc>
              <a:spcAft>
                <a:spcPts val="0"/>
              </a:spcAft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			for k = 1:K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293370" marR="114300" indent="-6350" algn="just">
              <a:lnSpc>
                <a:spcPct val="110000"/>
              </a:lnSpc>
              <a:spcAft>
                <a:spcPts val="0"/>
              </a:spcAft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				u(k) = mean of all training examples indexed to k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293370" marR="114300" indent="-6350" algn="just">
              <a:lnSpc>
                <a:spcPct val="110000"/>
              </a:lnSpc>
              <a:spcAft>
                <a:spcPts val="0"/>
              </a:spcAft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			plot of x1 and x2 clusters</a:t>
            </a:r>
            <a:endParaRPr lang="en-US" sz="2800" cap="none" dirty="0">
              <a:solidFill>
                <a:srgbClr val="000000"/>
              </a:solidFill>
              <a:effectLst/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15007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48640" y="295425"/>
            <a:ext cx="7512148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cap="none" dirty="0">
                <a:solidFill>
                  <a:srgbClr val="2A3E61"/>
                </a:solidFill>
              </a:rPr>
              <a:t>Clustering Algorithm</a:t>
            </a: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548640" y="1153550"/>
            <a:ext cx="10649243" cy="119571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The pseudocode for K-Means Clustering algorithm is given below: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You can assign the initial centroids </a:t>
            </a:r>
            <a:r>
              <a:rPr lang="en-US" sz="2400" cap="none" dirty="0" err="1">
                <a:solidFill>
                  <a:prstClr val="black"/>
                </a:solidFill>
                <a:cs typeface="Courier New" panose="02070309020205020404" pitchFamily="49" charset="0"/>
              </a:rPr>
              <a:t>u</a:t>
            </a:r>
            <a:r>
              <a:rPr lang="en-US" sz="2400" cap="none" baseline="-25000" dirty="0" err="1">
                <a:solidFill>
                  <a:prstClr val="black"/>
                </a:solidFill>
                <a:cs typeface="Courier New" panose="02070309020205020404" pitchFamily="49" charset="0"/>
              </a:rPr>
              <a:t>K</a:t>
            </a: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 using random K examples from the dataset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548640" y="1682393"/>
            <a:ext cx="11277600" cy="33209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293370" marR="114300" indent="-6350" algn="just">
              <a:lnSpc>
                <a:spcPct val="110000"/>
              </a:lnSpc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specify K number of centroids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293370" marR="114300" indent="-6350" algn="just">
              <a:lnSpc>
                <a:spcPct val="110000"/>
              </a:lnSpc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randomly initialize K number of centroids u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293370" marR="114300" indent="-6350" algn="just">
              <a:lnSpc>
                <a:spcPct val="110000"/>
              </a:lnSpc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for j = 1:epochs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293370" marR="114300" indent="-6350" algn="just">
              <a:lnSpc>
                <a:spcPct val="110000"/>
              </a:lnSpc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			for </a:t>
            </a:r>
            <a:r>
              <a:rPr lang="en-US" sz="2400" b="1" cap="none" dirty="0" err="1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 = 1:m		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1207770" marR="114300" indent="163830" algn="just">
              <a:lnSpc>
                <a:spcPct val="110000"/>
              </a:lnSpc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c(</a:t>
            </a:r>
            <a:r>
              <a:rPr lang="en-US" sz="2400" b="1" cap="none" dirty="0" err="1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) = index of closest cluster to training example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293370" marR="114300" indent="-6350" algn="just">
              <a:lnSpc>
                <a:spcPct val="110000"/>
              </a:lnSpc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			for k = 1:K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293370" marR="114300" indent="-6350" algn="just">
              <a:lnSpc>
                <a:spcPct val="110000"/>
              </a:lnSpc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				u(k) = mean of all training examples indexed to k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293370" marR="114300" indent="-6350" algn="just">
              <a:lnSpc>
                <a:spcPct val="110000"/>
              </a:lnSpc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			plot of x1 and x2 clusters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21170" y="2122098"/>
            <a:ext cx="8250303" cy="4680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"/>
          </a:p>
        </p:txBody>
      </p:sp>
    </p:spTree>
    <p:extLst>
      <p:ext uri="{BB962C8B-B14F-4D97-AF65-F5344CB8AC3E}">
        <p14:creationId xmlns:p14="http://schemas.microsoft.com/office/powerpoint/2010/main" val="40160588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48640" y="295425"/>
            <a:ext cx="7512148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cap="none" dirty="0">
                <a:solidFill>
                  <a:srgbClr val="2A3E61"/>
                </a:solidFill>
              </a:rPr>
              <a:t>Clustering Algorithm</a:t>
            </a: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548640" y="1153550"/>
            <a:ext cx="10649243" cy="119571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The pseudocode for K-Means Clustering algorithm is given below: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The main loop that will run the specified number of epochs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Initially, start with smaller number of epochs to get an idea of how the clustering is proceeding. Opt for larger values later if needed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548640" y="1682393"/>
            <a:ext cx="11277600" cy="33209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293370" marR="114300" indent="-6350" algn="just">
              <a:lnSpc>
                <a:spcPct val="110000"/>
              </a:lnSpc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specify K number of centroids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293370" marR="114300" indent="-6350" algn="just">
              <a:lnSpc>
                <a:spcPct val="110000"/>
              </a:lnSpc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randomly initialize K number of centroids u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293370" marR="114300" indent="-6350" algn="just">
              <a:lnSpc>
                <a:spcPct val="110000"/>
              </a:lnSpc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for j = 1:epochs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293370" marR="114300" indent="-6350" algn="just">
              <a:lnSpc>
                <a:spcPct val="110000"/>
              </a:lnSpc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			for </a:t>
            </a:r>
            <a:r>
              <a:rPr lang="en-US" sz="2400" b="1" cap="none" dirty="0" err="1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 = 1:m		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1207770" marR="114300" indent="163830" algn="just">
              <a:lnSpc>
                <a:spcPct val="110000"/>
              </a:lnSpc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c(</a:t>
            </a:r>
            <a:r>
              <a:rPr lang="en-US" sz="2400" b="1" cap="none" dirty="0" err="1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) = index of closest cluster to training example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293370" marR="114300" indent="-6350" algn="just">
              <a:lnSpc>
                <a:spcPct val="110000"/>
              </a:lnSpc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			for k = 1:K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293370" marR="114300" indent="-6350" algn="just">
              <a:lnSpc>
                <a:spcPct val="110000"/>
              </a:lnSpc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				u(k) = mean of all training examples indexed to k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293370" marR="114300" indent="-6350" algn="just">
              <a:lnSpc>
                <a:spcPct val="110000"/>
              </a:lnSpc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			plot of x1 and x2 clusters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72929" y="2518917"/>
            <a:ext cx="10648445" cy="2484404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44477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48640" y="295425"/>
            <a:ext cx="7512148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cap="none" dirty="0">
                <a:solidFill>
                  <a:srgbClr val="2A3E61"/>
                </a:solidFill>
              </a:rPr>
              <a:t>Clustering Algorithm</a:t>
            </a: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548640" y="1153550"/>
            <a:ext cx="10649243" cy="119571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The pseudocode for K-Means Clustering algorithm is given below: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m	: 	number of training examples in the dataset</a:t>
            </a:r>
          </a:p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c(</a:t>
            </a:r>
            <a:r>
              <a:rPr lang="en-US" sz="2400" cap="none" dirty="0" err="1">
                <a:solidFill>
                  <a:prstClr val="black"/>
                </a:solidFill>
                <a:cs typeface="Courier New" panose="02070309020205020404" pitchFamily="49" charset="0"/>
              </a:rPr>
              <a:t>i</a:t>
            </a: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)	:	vector used to store indices and has length equal to m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548640" y="1682393"/>
            <a:ext cx="11277600" cy="33209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293370" marR="114300" indent="-6350" algn="just">
              <a:lnSpc>
                <a:spcPct val="110000"/>
              </a:lnSpc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specify K number of centroids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293370" marR="114300" indent="-6350" algn="just">
              <a:lnSpc>
                <a:spcPct val="110000"/>
              </a:lnSpc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randomly initialize K number of centroids u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293370" marR="114300" indent="-6350" algn="just">
              <a:lnSpc>
                <a:spcPct val="110000"/>
              </a:lnSpc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for j = 1:epochs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293370" marR="114300" indent="-6350" algn="just">
              <a:lnSpc>
                <a:spcPct val="110000"/>
              </a:lnSpc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			for </a:t>
            </a:r>
            <a:r>
              <a:rPr lang="en-US" sz="2400" b="1" cap="none" dirty="0" err="1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 = 1:m		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1207770" marR="114300" indent="163830" algn="just">
              <a:lnSpc>
                <a:spcPct val="110000"/>
              </a:lnSpc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c(</a:t>
            </a:r>
            <a:r>
              <a:rPr lang="en-US" sz="2400" b="1" cap="none" dirty="0" err="1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) = index of closest cluster to training example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293370" marR="114300" indent="-6350" algn="just">
              <a:lnSpc>
                <a:spcPct val="110000"/>
              </a:lnSpc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			for k = 1:K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293370" marR="114300" indent="-6350" algn="just">
              <a:lnSpc>
                <a:spcPct val="110000"/>
              </a:lnSpc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				u(k) = mean of all training examples indexed to k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293370" marR="114300" indent="-6350" algn="just">
              <a:lnSpc>
                <a:spcPct val="110000"/>
              </a:lnSpc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			plot of x1 and x2 clusters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59528" y="2915730"/>
            <a:ext cx="10080000" cy="86264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50426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48640" y="295425"/>
            <a:ext cx="7512148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cap="none" dirty="0">
                <a:solidFill>
                  <a:srgbClr val="2A3E61"/>
                </a:solidFill>
              </a:rPr>
              <a:t>Clustering Algorithm</a:t>
            </a: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548640" y="1153550"/>
            <a:ext cx="10649243" cy="119571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The pseudocode for K-Means Clustering algorithm is given below: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In this loop, you go through each training example one-by-one and determine which of the centroids is closest to each example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The index of the closest centroid (1, 2, 3 … K) is stored in the c(</a:t>
            </a:r>
            <a:r>
              <a:rPr lang="en-US" sz="2400" cap="none" dirty="0" err="1">
                <a:solidFill>
                  <a:prstClr val="black"/>
                </a:solidFill>
                <a:cs typeface="Courier New" panose="02070309020205020404" pitchFamily="49" charset="0"/>
              </a:rPr>
              <a:t>i</a:t>
            </a: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) vector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548640" y="1682393"/>
            <a:ext cx="11277600" cy="33209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293370" marR="114300" indent="-6350" algn="just">
              <a:lnSpc>
                <a:spcPct val="110000"/>
              </a:lnSpc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specify K number of centroids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293370" marR="114300" indent="-6350" algn="just">
              <a:lnSpc>
                <a:spcPct val="110000"/>
              </a:lnSpc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randomly initialize K number of centroids u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293370" marR="114300" indent="-6350" algn="just">
              <a:lnSpc>
                <a:spcPct val="110000"/>
              </a:lnSpc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for j = 1:epochs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293370" marR="114300" indent="-6350" algn="just">
              <a:lnSpc>
                <a:spcPct val="110000"/>
              </a:lnSpc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			for </a:t>
            </a:r>
            <a:r>
              <a:rPr lang="en-US" sz="2400" b="1" cap="none" dirty="0" err="1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 = 1:m		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1207770" marR="114300" indent="163830" algn="just">
              <a:lnSpc>
                <a:spcPct val="110000"/>
              </a:lnSpc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c(</a:t>
            </a:r>
            <a:r>
              <a:rPr lang="en-US" sz="2400" b="1" cap="none" dirty="0" err="1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) = index of closest cluster to training example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293370" marR="114300" indent="-6350" algn="just">
              <a:lnSpc>
                <a:spcPct val="110000"/>
              </a:lnSpc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			for k = 1:K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293370" marR="114300" indent="-6350" algn="just">
              <a:lnSpc>
                <a:spcPct val="110000"/>
              </a:lnSpc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				u(k) = mean of all training examples indexed to k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293370" marR="114300" indent="-6350" algn="just">
              <a:lnSpc>
                <a:spcPct val="110000"/>
              </a:lnSpc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			plot of x1 and x2 clusters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59528" y="2915730"/>
            <a:ext cx="10080000" cy="86264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36318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48640" y="295425"/>
            <a:ext cx="7512148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cap="none" dirty="0">
                <a:solidFill>
                  <a:srgbClr val="2A3E61"/>
                </a:solidFill>
              </a:rPr>
              <a:t>Clustering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itle 1"/>
              <p:cNvSpPr txBox="1">
                <a:spLocks/>
              </p:cNvSpPr>
              <p:nvPr/>
            </p:nvSpPr>
            <p:spPr>
              <a:xfrm>
                <a:off x="548640" y="1153550"/>
                <a:ext cx="10649243" cy="1195711"/>
              </a:xfrm>
              <a:prstGeom prst="rect">
                <a:avLst/>
              </a:prstGeom>
              <a:effectLst/>
            </p:spPr>
            <p:txBody>
              <a:bodyPr vert="horz" lIns="91440" tIns="45720" rIns="91440" bIns="45720" rtlCol="0" anchor="t">
                <a:noAutofit/>
              </a:bodyPr>
              <a:lstStyle>
                <a:lvl1pPr algn="l" defTabSz="457200" rtl="0" eaLnBrk="1" latinLnBrk="0" hangingPunct="1">
                  <a:spcBef>
                    <a:spcPct val="0"/>
                  </a:spcBef>
                  <a:buNone/>
                  <a:defRPr sz="3600" b="0" kern="1200" cap="all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defRPr>
                </a:lvl1pPr>
                <a:lvl2pPr eaLnBrk="1" hangingPunct="1">
                  <a:defRPr>
                    <a:solidFill>
                      <a:schemeClr val="tx2"/>
                    </a:solidFill>
                  </a:defRPr>
                </a:lvl2pPr>
                <a:lvl3pPr eaLnBrk="1" hangingPunct="1">
                  <a:defRPr>
                    <a:solidFill>
                      <a:schemeClr val="tx2"/>
                    </a:solidFill>
                  </a:defRPr>
                </a:lvl3pPr>
                <a:lvl4pPr eaLnBrk="1" hangingPunct="1">
                  <a:defRPr>
                    <a:solidFill>
                      <a:schemeClr val="tx2"/>
                    </a:solidFill>
                  </a:defRPr>
                </a:lvl4pPr>
                <a:lvl5pPr eaLnBrk="1" hangingPunct="1">
                  <a:defRPr>
                    <a:solidFill>
                      <a:schemeClr val="tx2"/>
                    </a:solidFill>
                  </a:defRPr>
                </a:lvl5pPr>
                <a:lvl6pPr eaLnBrk="1" hangingPunct="1">
                  <a:defRPr>
                    <a:solidFill>
                      <a:schemeClr val="tx2"/>
                    </a:solidFill>
                  </a:defRPr>
                </a:lvl6pPr>
                <a:lvl7pPr eaLnBrk="1" hangingPunct="1">
                  <a:defRPr>
                    <a:solidFill>
                      <a:schemeClr val="tx2"/>
                    </a:solidFill>
                  </a:defRPr>
                </a:lvl7pPr>
                <a:lvl8pPr eaLnBrk="1" hangingPunct="1">
                  <a:defRPr>
                    <a:solidFill>
                      <a:schemeClr val="tx2"/>
                    </a:solidFill>
                  </a:defRPr>
                </a:lvl8pPr>
                <a:lvl9pPr eaLnBrk="1" hangingPunct="1">
                  <a:defRPr>
                    <a:solidFill>
                      <a:schemeClr val="tx2"/>
                    </a:solidFill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cap="none" dirty="0">
                    <a:solidFill>
                      <a:prstClr val="black"/>
                    </a:solidFill>
                    <a:cs typeface="Courier New" panose="02070309020205020404" pitchFamily="49" charset="0"/>
                  </a:rPr>
                  <a:t>The pseudocode for K-Means Clustering algorithm is given below: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cap="none" dirty="0">
                  <a:solidFill>
                    <a:prstClr val="black"/>
                  </a:solidFill>
                  <a:cs typeface="Courier New" panose="02070309020205020404" pitchFamily="49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cap="none" dirty="0">
                  <a:solidFill>
                    <a:prstClr val="black"/>
                  </a:solidFill>
                  <a:cs typeface="Courier New" panose="02070309020205020404" pitchFamily="49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cap="none" dirty="0">
                  <a:solidFill>
                    <a:prstClr val="black"/>
                  </a:solidFill>
                  <a:cs typeface="Courier New" panose="02070309020205020404" pitchFamily="49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cap="none" dirty="0">
                  <a:solidFill>
                    <a:prstClr val="black"/>
                  </a:solidFill>
                  <a:cs typeface="Courier New" panose="02070309020205020404" pitchFamily="49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cap="none" dirty="0">
                  <a:solidFill>
                    <a:prstClr val="black"/>
                  </a:solidFill>
                  <a:cs typeface="Courier New" panose="02070309020205020404" pitchFamily="49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cap="none" dirty="0">
                  <a:solidFill>
                    <a:prstClr val="black"/>
                  </a:solidFill>
                  <a:cs typeface="Courier New" panose="02070309020205020404" pitchFamily="49" charset="0"/>
                </a:endParaRPr>
              </a:p>
              <a:p>
                <a:endParaRPr lang="en-US" sz="2400" cap="none" dirty="0">
                  <a:solidFill>
                    <a:prstClr val="black"/>
                  </a:solidFill>
                  <a:cs typeface="Courier New" panose="02070309020205020404" pitchFamily="49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cap="none" dirty="0">
                  <a:solidFill>
                    <a:prstClr val="black"/>
                  </a:solidFill>
                  <a:cs typeface="Courier New" panose="02070309020205020404" pitchFamily="49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cap="none" dirty="0">
                  <a:solidFill>
                    <a:prstClr val="black"/>
                  </a:solidFill>
                  <a:cs typeface="Courier New" panose="02070309020205020404" pitchFamily="49" charset="0"/>
                </a:endParaRPr>
              </a:p>
              <a:p>
                <a:endParaRPr lang="en-US" sz="2400" cap="none" dirty="0">
                  <a:solidFill>
                    <a:prstClr val="black"/>
                  </a:solidFill>
                  <a:cs typeface="Courier New" panose="02070309020205020404" pitchFamily="49" charset="0"/>
                </a:endParaRPr>
              </a:p>
              <a:p>
                <a:r>
                  <a:rPr lang="en-US" sz="2400" cap="none" dirty="0">
                    <a:solidFill>
                      <a:prstClr val="black"/>
                    </a:solidFill>
                    <a:cs typeface="Courier New" panose="02070309020205020404" pitchFamily="49" charset="0"/>
                  </a:rPr>
                  <a:t>To determine the closest centroid, the Euclidean distance of the example from the centroid is computed: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40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b>
                              </m:sSub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b>
                              </m:sSub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b>
                              </m:sSub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2400" cap="none" dirty="0">
                  <a:solidFill>
                    <a:prstClr val="black"/>
                  </a:solidFill>
                  <a:cs typeface="Courier New" panose="02070309020205020404" pitchFamily="49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cap="none" dirty="0">
                  <a:solidFill>
                    <a:prstClr val="black"/>
                  </a:solidFill>
                  <a:cs typeface="Courier New" panose="02070309020205020404" pitchFamily="49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cap="none" dirty="0">
                  <a:solidFill>
                    <a:prstClr val="black"/>
                  </a:solidFill>
                  <a:cs typeface="Courier New" panose="02070309020205020404" pitchFamily="49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cap="none" dirty="0">
                  <a:solidFill>
                    <a:prstClr val="black"/>
                  </a:solidFill>
                  <a:cs typeface="Courier New" panose="02070309020205020404" pitchFamily="49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cap="none" dirty="0">
                  <a:solidFill>
                    <a:prstClr val="black"/>
                  </a:solidFill>
                  <a:cs typeface="Courier New" panose="02070309020205020404" pitchFamily="49" charset="0"/>
                </a:endParaRPr>
              </a:p>
              <a:p>
                <a:endParaRPr lang="en-US" sz="2400" cap="none" dirty="0">
                  <a:solidFill>
                    <a:prstClr val="black"/>
                  </a:solidFill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15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1153550"/>
                <a:ext cx="10649243" cy="1195711"/>
              </a:xfrm>
              <a:prstGeom prst="rect">
                <a:avLst/>
              </a:prstGeom>
              <a:blipFill rotWithShape="0">
                <a:blip r:embed="rId2"/>
                <a:stretch>
                  <a:fillRect l="-859" t="-3571" b="-364796"/>
                </a:stretch>
              </a:blipFill>
              <a:effectLst/>
            </p:spPr>
            <p:txBody>
              <a:bodyPr/>
              <a:lstStyle/>
              <a:p>
                <a:r>
                  <a:rPr lang="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/>
          <p:cNvSpPr txBox="1">
            <a:spLocks/>
          </p:cNvSpPr>
          <p:nvPr/>
        </p:nvSpPr>
        <p:spPr>
          <a:xfrm>
            <a:off x="548640" y="1682393"/>
            <a:ext cx="11277600" cy="33209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293370" marR="114300" indent="-6350" algn="just">
              <a:lnSpc>
                <a:spcPct val="110000"/>
              </a:lnSpc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specify K number of centroids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293370" marR="114300" indent="-6350" algn="just">
              <a:lnSpc>
                <a:spcPct val="110000"/>
              </a:lnSpc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randomly initialize K number of centroids u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293370" marR="114300" indent="-6350" algn="just">
              <a:lnSpc>
                <a:spcPct val="110000"/>
              </a:lnSpc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for j = 1:epochs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293370" marR="114300" indent="-6350" algn="just">
              <a:lnSpc>
                <a:spcPct val="110000"/>
              </a:lnSpc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			for </a:t>
            </a:r>
            <a:r>
              <a:rPr lang="en-US" sz="2400" b="1" cap="none" dirty="0" err="1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 = 1:m		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1207770" marR="114300" indent="163830" algn="just">
              <a:lnSpc>
                <a:spcPct val="110000"/>
              </a:lnSpc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c(</a:t>
            </a:r>
            <a:r>
              <a:rPr lang="en-US" sz="2400" b="1" cap="none" dirty="0" err="1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) = index of closest cluster to training example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293370" marR="114300" indent="-6350" algn="just">
              <a:lnSpc>
                <a:spcPct val="110000"/>
              </a:lnSpc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			for k = 1:K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293370" marR="114300" indent="-6350" algn="just">
              <a:lnSpc>
                <a:spcPct val="110000"/>
              </a:lnSpc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				u(k) = mean of all training examples indexed to k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293370" marR="114300" indent="-6350" algn="just">
              <a:lnSpc>
                <a:spcPct val="110000"/>
              </a:lnSpc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			plot of x1 and x2 clusters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59528" y="2915730"/>
            <a:ext cx="10080000" cy="86264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9040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48640" y="295425"/>
            <a:ext cx="7512148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cap="none" dirty="0">
                <a:solidFill>
                  <a:srgbClr val="2A3E61"/>
                </a:solidFill>
              </a:rPr>
              <a:t>Clustering Algorithm</a:t>
            </a: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548640" y="1153550"/>
            <a:ext cx="10649243" cy="119571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The pseudocode for K-Means Clustering algorithm is given below: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After completing the c(</a:t>
            </a:r>
            <a:r>
              <a:rPr lang="en-US" sz="2400" cap="none" dirty="0" err="1">
                <a:solidFill>
                  <a:prstClr val="black"/>
                </a:solidFill>
                <a:cs typeface="Courier New" panose="02070309020205020404" pitchFamily="49" charset="0"/>
              </a:rPr>
              <a:t>i</a:t>
            </a: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) vector, it is used to update the centroid positions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Notice this loop iterates through each of the K clusters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The training examples that belong to a particular cluster are averaged to give the new centroid point for that cluster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548640" y="1682393"/>
            <a:ext cx="11277600" cy="33209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293370" marR="114300" indent="-6350" algn="just">
              <a:lnSpc>
                <a:spcPct val="110000"/>
              </a:lnSpc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specify K number of centroids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293370" marR="114300" indent="-6350" algn="just">
              <a:lnSpc>
                <a:spcPct val="110000"/>
              </a:lnSpc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randomly initialize K number of centroids u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293370" marR="114300" indent="-6350" algn="just">
              <a:lnSpc>
                <a:spcPct val="110000"/>
              </a:lnSpc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for j = 1:epochs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293370" marR="114300" indent="-6350" algn="just">
              <a:lnSpc>
                <a:spcPct val="110000"/>
              </a:lnSpc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			for </a:t>
            </a:r>
            <a:r>
              <a:rPr lang="en-US" sz="2400" b="1" cap="none" dirty="0" err="1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 = 1:m		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1207770" marR="114300" indent="163830" algn="just">
              <a:lnSpc>
                <a:spcPct val="110000"/>
              </a:lnSpc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c(</a:t>
            </a:r>
            <a:r>
              <a:rPr lang="en-US" sz="2400" b="1" cap="none" dirty="0" err="1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) = index of closest cluster to training example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293370" marR="114300" indent="-6350" algn="just">
              <a:lnSpc>
                <a:spcPct val="110000"/>
              </a:lnSpc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			for k = 1:K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293370" marR="114300" indent="-6350" algn="just">
              <a:lnSpc>
                <a:spcPct val="110000"/>
              </a:lnSpc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				u(k) = mean of all training examples indexed to k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293370" marR="114300" indent="-6350" algn="just">
              <a:lnSpc>
                <a:spcPct val="110000"/>
              </a:lnSpc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			plot of x1 and x2 clusters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59528" y="3709361"/>
            <a:ext cx="10080000" cy="86264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04180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48640" y="295425"/>
            <a:ext cx="7512148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cap="none" dirty="0">
                <a:solidFill>
                  <a:srgbClr val="2A3E61"/>
                </a:solidFill>
              </a:rPr>
              <a:t>Clustering Algorithm</a:t>
            </a: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548640" y="1153550"/>
            <a:ext cx="10649243" cy="119571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The pseudocode for K-Means Clustering algorithm is given below: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At the end of each iteration (epoch), it is a good idea to plot the clusters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By analyzing the plots at each epoch, we can get a sense of how the algorithm is proceeding and decide if we should change the epoch number and  value of K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548640" y="1682393"/>
            <a:ext cx="11277600" cy="33209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293370" marR="114300" indent="-6350" algn="just">
              <a:lnSpc>
                <a:spcPct val="110000"/>
              </a:lnSpc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specify K number of centroids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293370" marR="114300" indent="-6350" algn="just">
              <a:lnSpc>
                <a:spcPct val="110000"/>
              </a:lnSpc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randomly initialize K number of centroids u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293370" marR="114300" indent="-6350" algn="just">
              <a:lnSpc>
                <a:spcPct val="110000"/>
              </a:lnSpc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for j = 1:epochs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293370" marR="114300" indent="-6350" algn="just">
              <a:lnSpc>
                <a:spcPct val="110000"/>
              </a:lnSpc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			for </a:t>
            </a:r>
            <a:r>
              <a:rPr lang="en-US" sz="2400" b="1" cap="none" dirty="0" err="1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 = 1:m		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1207770" marR="114300" indent="163830" algn="just">
              <a:lnSpc>
                <a:spcPct val="110000"/>
              </a:lnSpc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c(</a:t>
            </a:r>
            <a:r>
              <a:rPr lang="en-US" sz="2400" b="1" cap="none" dirty="0" err="1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) = index of closest cluster to training example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293370" marR="114300" indent="-6350" algn="just">
              <a:lnSpc>
                <a:spcPct val="110000"/>
              </a:lnSpc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			for k = 1:K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293370" marR="114300" indent="-6350" algn="just">
              <a:lnSpc>
                <a:spcPct val="110000"/>
              </a:lnSpc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				u(k) = mean of all training examples indexed to k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293370" marR="114300" indent="-6350" algn="just">
              <a:lnSpc>
                <a:spcPct val="110000"/>
              </a:lnSpc>
            </a:pPr>
            <a:r>
              <a:rPr lang="en-US" sz="2400" b="1" cap="none" dirty="0">
                <a:solidFill>
                  <a:srgbClr val="4472C4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			plot of x1 and x2 clusters</a:t>
            </a:r>
            <a:endParaRPr lang="en-US" sz="2800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59528" y="4520242"/>
            <a:ext cx="10080000" cy="483077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75807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48640" y="295425"/>
            <a:ext cx="7512148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cap="none" dirty="0">
                <a:solidFill>
                  <a:srgbClr val="2A3E61"/>
                </a:solidFill>
              </a:rPr>
              <a:t>Choosing K Value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itle 1"/>
              <p:cNvSpPr txBox="1">
                <a:spLocks/>
              </p:cNvSpPr>
              <p:nvPr/>
            </p:nvSpPr>
            <p:spPr>
              <a:xfrm>
                <a:off x="548640" y="1153550"/>
                <a:ext cx="10649243" cy="1067136"/>
              </a:xfrm>
              <a:prstGeom prst="rect">
                <a:avLst/>
              </a:prstGeom>
              <a:effectLst/>
            </p:spPr>
            <p:txBody>
              <a:bodyPr vert="horz" lIns="91440" tIns="45720" rIns="91440" bIns="45720" rtlCol="0" anchor="t">
                <a:noAutofit/>
              </a:bodyPr>
              <a:lstStyle>
                <a:lvl1pPr algn="l" defTabSz="457200" rtl="0" eaLnBrk="1" latinLnBrk="0" hangingPunct="1">
                  <a:spcBef>
                    <a:spcPct val="0"/>
                  </a:spcBef>
                  <a:buNone/>
                  <a:defRPr sz="3600" b="0" kern="1200" cap="all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defRPr>
                </a:lvl1pPr>
                <a:lvl2pPr eaLnBrk="1" hangingPunct="1">
                  <a:defRPr>
                    <a:solidFill>
                      <a:schemeClr val="tx2"/>
                    </a:solidFill>
                  </a:defRPr>
                </a:lvl2pPr>
                <a:lvl3pPr eaLnBrk="1" hangingPunct="1">
                  <a:defRPr>
                    <a:solidFill>
                      <a:schemeClr val="tx2"/>
                    </a:solidFill>
                  </a:defRPr>
                </a:lvl3pPr>
                <a:lvl4pPr eaLnBrk="1" hangingPunct="1">
                  <a:defRPr>
                    <a:solidFill>
                      <a:schemeClr val="tx2"/>
                    </a:solidFill>
                  </a:defRPr>
                </a:lvl4pPr>
                <a:lvl5pPr eaLnBrk="1" hangingPunct="1">
                  <a:defRPr>
                    <a:solidFill>
                      <a:schemeClr val="tx2"/>
                    </a:solidFill>
                  </a:defRPr>
                </a:lvl5pPr>
                <a:lvl6pPr eaLnBrk="1" hangingPunct="1">
                  <a:defRPr>
                    <a:solidFill>
                      <a:schemeClr val="tx2"/>
                    </a:solidFill>
                  </a:defRPr>
                </a:lvl6pPr>
                <a:lvl7pPr eaLnBrk="1" hangingPunct="1">
                  <a:defRPr>
                    <a:solidFill>
                      <a:schemeClr val="tx2"/>
                    </a:solidFill>
                  </a:defRPr>
                </a:lvl7pPr>
                <a:lvl8pPr eaLnBrk="1" hangingPunct="1">
                  <a:defRPr>
                    <a:solidFill>
                      <a:schemeClr val="tx2"/>
                    </a:solidFill>
                  </a:defRPr>
                </a:lvl8pPr>
                <a:lvl9pPr eaLnBrk="1" hangingPunct="1">
                  <a:defRPr>
                    <a:solidFill>
                      <a:schemeClr val="tx2"/>
                    </a:solidFill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cap="none" dirty="0">
                    <a:solidFill>
                      <a:prstClr val="black"/>
                    </a:solidFill>
                    <a:cs typeface="Courier New" panose="02070309020205020404" pitchFamily="49" charset="0"/>
                  </a:rPr>
                  <a:t>At times, the best value of K may not be obvious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cap="none" dirty="0">
                    <a:solidFill>
                      <a:prstClr val="black"/>
                    </a:solidFill>
                    <a:cs typeface="Courier New" panose="02070309020205020404" pitchFamily="49" charset="0"/>
                  </a:rPr>
                  <a:t>To get the best value of K, we can run the clustering algorithm for different values of K and for each K value, a cost can be computed:</a:t>
                </a:r>
                <a:endParaRPr lang="en-US" sz="240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400" b="1" i="1" smtClean="0">
                              <a:solidFill>
                                <a:srgbClr val="2A3E6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b="1" i="1">
                              <a:solidFill>
                                <a:srgbClr val="2A3E6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𝑪𝒐𝒔𝒕</m:t>
                          </m:r>
                        </m:e>
                        <m:sub>
                          <m:r>
                            <a:rPr lang="ar-AE" sz="2400" b="1" i="1">
                              <a:solidFill>
                                <a:srgbClr val="2A3E6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𝑲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2A3E6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2A3E6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𝑱</m:t>
                      </m:r>
                      <m:r>
                        <a:rPr lang="en-US" sz="2400" b="1" i="1" smtClean="0">
                          <a:solidFill>
                            <a:srgbClr val="2A3E6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(</m:t>
                      </m:r>
                      <m:r>
                        <a:rPr lang="en-US" sz="2400" b="1" i="1" smtClean="0">
                          <a:solidFill>
                            <a:srgbClr val="2A3E6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𝑲</m:t>
                      </m:r>
                      <m:r>
                        <a:rPr lang="en-US" sz="2400" b="1" i="1" smtClean="0">
                          <a:solidFill>
                            <a:srgbClr val="2A3E6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)=</m:t>
                      </m:r>
                      <m:f>
                        <m:fPr>
                          <m:ctrlPr>
                            <a:rPr lang="ar-AE" sz="2400" b="1" i="1">
                              <a:solidFill>
                                <a:srgbClr val="2A3E6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400" b="1" i="1">
                              <a:solidFill>
                                <a:srgbClr val="2A3E6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ar-AE" sz="2400" b="1" i="1">
                              <a:solidFill>
                                <a:srgbClr val="2A3E6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𝒎</m:t>
                          </m:r>
                        </m:den>
                      </m:f>
                      <m:nary>
                        <m:naryPr>
                          <m:chr m:val="∑"/>
                          <m:grow m:val="on"/>
                          <m:ctrlPr>
                            <a:rPr lang="ar-AE" sz="2400" b="1" i="1">
                              <a:solidFill>
                                <a:srgbClr val="2A3E6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2400" b="1" i="1">
                              <a:solidFill>
                                <a:srgbClr val="2A3E6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𝒊</m:t>
                          </m:r>
                          <m:r>
                            <a:rPr lang="ar-AE" sz="2400" b="1" i="1">
                              <a:solidFill>
                                <a:srgbClr val="2A3E6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=</m:t>
                          </m:r>
                          <m:r>
                            <a:rPr lang="ar-AE" sz="2400" b="1" i="1">
                              <a:solidFill>
                                <a:srgbClr val="2A3E6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ar-AE" sz="2400" b="1" i="1">
                              <a:solidFill>
                                <a:srgbClr val="2A3E6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𝒎</m:t>
                          </m:r>
                        </m:sup>
                        <m:e>
                          <m:sSup>
                            <m:sSupPr>
                              <m:ctrlPr>
                                <a:rPr lang="ar-AE" sz="2400" b="1" i="1">
                                  <a:solidFill>
                                    <a:srgbClr val="2A3E6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400" b="1">
                                  <a:solidFill>
                                    <a:srgbClr val="2A3E6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/>
                                </a:rPr>
                                <m:t>||(</m:t>
                              </m:r>
                              <m:sSup>
                                <m:sSupPr>
                                  <m:ctrlPr>
                                    <a:rPr lang="ar-AE" sz="2400" b="1" i="1">
                                      <a:solidFill>
                                        <a:srgbClr val="2A3E6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1" i="0" smtClean="0">
                                      <a:solidFill>
                                        <a:srgbClr val="2A3E6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/>
                                    </a:rPr>
                                    <m:t>𝐱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ar-AE" sz="2400" b="1" i="1">
                                          <a:solidFill>
                                            <a:srgbClr val="2A3E61"/>
                                          </a:solidFill>
                                          <a:effectLst>
                                            <a:outerShdw blurRad="38100" dist="38100" dir="2700000" algn="tl">
                                              <a:srgbClr val="000000">
                                                <a:alpha val="43137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sz="2400" b="1" i="1">
                                          <a:solidFill>
                                            <a:srgbClr val="2A3E61"/>
                                          </a:solidFill>
                                          <a:effectLst>
                                            <a:outerShdw blurRad="38100" dist="38100" dir="2700000" algn="tl">
                                              <a:srgbClr val="000000">
                                                <a:alpha val="43137"/>
                                              </a:srgbClr>
                                            </a:outerShdw>
                                          </a:effectLst>
                                          <a:latin typeface="Cambria Math"/>
                                        </a:rPr>
                                        <m:t>𝒊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ar-AE" sz="2400" b="1" i="1">
                                  <a:solidFill>
                                    <a:srgbClr val="2A3E6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ar-AE" sz="2400" b="1" i="1">
                                      <a:solidFill>
                                        <a:srgbClr val="2A3E6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1" i="1" smtClean="0">
                                      <a:solidFill>
                                        <a:srgbClr val="2A3E6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/>
                                    </a:rPr>
                                    <m:t>𝒖</m:t>
                                  </m:r>
                                </m:e>
                                <m:sub>
                                  <m:r>
                                    <a:rPr lang="ar-AE" sz="2400" b="1" i="1">
                                      <a:solidFill>
                                        <a:srgbClr val="2A3E6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/>
                                    </a:rPr>
                                    <m:t>𝑲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ar-AE" sz="2400" b="1" i="1">
                                          <a:solidFill>
                                            <a:srgbClr val="2A3E61"/>
                                          </a:solidFill>
                                          <a:effectLst>
                                            <a:outerShdw blurRad="38100" dist="38100" dir="2700000" algn="tl">
                                              <a:srgbClr val="000000">
                                                <a:alpha val="43137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sz="2400" b="1" i="1">
                                          <a:solidFill>
                                            <a:srgbClr val="2A3E61"/>
                                          </a:solidFill>
                                          <a:effectLst>
                                            <a:outerShdw blurRad="38100" dist="38100" dir="2700000" algn="tl">
                                              <a:srgbClr val="000000">
                                                <a:alpha val="43137"/>
                                              </a:srgbClr>
                                            </a:outerShdw>
                                          </a:effectLst>
                                          <a:latin typeface="Cambria Math"/>
                                        </a:rPr>
                                        <m:t>𝒊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lang="ar-AE" sz="2400" b="1">
                                  <a:solidFill>
                                    <a:srgbClr val="2A3E6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/>
                                </a:rPr>
                                <m:t>)||</m:t>
                              </m:r>
                            </m:e>
                            <m:sup>
                              <m:r>
                                <a:rPr lang="ar-AE" sz="2400" b="1" i="1">
                                  <a:solidFill>
                                    <a:srgbClr val="2A3E6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/>
                                </a:rPr>
                                <m:t>𝟐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b="1" cap="none" dirty="0">
                  <a:solidFill>
                    <a:prstClr val="black"/>
                  </a:solidFill>
                  <a:cs typeface="Courier New" panose="02070309020205020404" pitchFamily="49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cap="none" dirty="0">
                  <a:solidFill>
                    <a:prstClr val="black"/>
                  </a:solidFill>
                  <a:cs typeface="Courier New" panose="02070309020205020404" pitchFamily="49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cap="none" dirty="0">
                  <a:solidFill>
                    <a:prstClr val="black"/>
                  </a:solidFill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15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1153550"/>
                <a:ext cx="10649243" cy="1067136"/>
              </a:xfrm>
              <a:prstGeom prst="rect">
                <a:avLst/>
              </a:prstGeom>
              <a:blipFill rotWithShape="1">
                <a:blip r:embed="rId2"/>
                <a:stretch>
                  <a:fillRect l="-744" t="-4571" r="-1145" b="-107429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4170" y="3376287"/>
            <a:ext cx="7827830" cy="3073034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545764" y="3376287"/>
            <a:ext cx="4129753" cy="3041765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A plot of the cost for each K value can be obtained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By looking at where the “elbow” is, the optimum value of K can be found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Note that this method does not always work</a:t>
            </a:r>
          </a:p>
        </p:txBody>
      </p:sp>
    </p:spTree>
    <p:extLst>
      <p:ext uri="{BB962C8B-B14F-4D97-AF65-F5344CB8AC3E}">
        <p14:creationId xmlns:p14="http://schemas.microsoft.com/office/powerpoint/2010/main" val="6377350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1"/>
            <a:ext cx="12192000" cy="1252025"/>
          </a:xfrm>
          <a:prstGeom prst="rect">
            <a:avLst/>
          </a:prstGeom>
          <a:solidFill>
            <a:srgbClr val="2A3E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"/>
          </a:p>
        </p:txBody>
      </p:sp>
      <p:sp>
        <p:nvSpPr>
          <p:cNvPr id="2" name="Title 1"/>
          <p:cNvSpPr txBox="1">
            <a:spLocks/>
          </p:cNvSpPr>
          <p:nvPr/>
        </p:nvSpPr>
        <p:spPr>
          <a:xfrm>
            <a:off x="548640" y="267289"/>
            <a:ext cx="7512148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cap="none" dirty="0">
                <a:solidFill>
                  <a:schemeClr val="bg1"/>
                </a:solidFill>
              </a:rPr>
              <a:t>Lab Tasks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4745B62-F9F6-45FA-3269-784092BDEEE1}"/>
              </a:ext>
            </a:extLst>
          </p:cNvPr>
          <p:cNvSpPr txBox="1">
            <a:spLocks/>
          </p:cNvSpPr>
          <p:nvPr/>
        </p:nvSpPr>
        <p:spPr>
          <a:xfrm>
            <a:off x="581192" y="1571737"/>
            <a:ext cx="11029615" cy="3838463"/>
          </a:xfrm>
          <a:prstGeom prst="rect">
            <a:avLst/>
          </a:prstGeom>
        </p:spPr>
        <p:txBody>
          <a:bodyPr anchor="t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C68B1"/>
              </a:buClr>
            </a:pPr>
            <a:r>
              <a:rPr lang="en-US" sz="2800" dirty="0">
                <a:latin typeface="+mj-lt"/>
              </a:rPr>
              <a:t>Download the Lab Material</a:t>
            </a:r>
          </a:p>
          <a:p>
            <a:pPr>
              <a:buClr>
                <a:srgbClr val="2C68B1"/>
              </a:buClr>
            </a:pPr>
            <a:r>
              <a:rPr lang="en-US" sz="2800" dirty="0">
                <a:latin typeface="+mj-lt"/>
              </a:rPr>
              <a:t>Perform the Lab Tasks given in the manual</a:t>
            </a:r>
          </a:p>
          <a:p>
            <a:pPr>
              <a:buClr>
                <a:srgbClr val="2C68B1"/>
              </a:buClr>
            </a:pPr>
            <a:r>
              <a:rPr lang="en-US" sz="2800" dirty="0">
                <a:latin typeface="+mj-lt"/>
              </a:rPr>
              <a:t>Submit the saved manual in PDF form</a:t>
            </a:r>
          </a:p>
          <a:p>
            <a:pPr>
              <a:buClr>
                <a:srgbClr val="2C68B1"/>
              </a:buClr>
            </a:pPr>
            <a:r>
              <a:rPr lang="en-US" sz="2800" dirty="0">
                <a:latin typeface="+mj-lt"/>
              </a:rPr>
              <a:t>Remember to delete your manual after completing the lab session</a:t>
            </a:r>
          </a:p>
          <a:p>
            <a:pPr marL="0" indent="0" algn="ctr">
              <a:lnSpc>
                <a:spcPct val="150000"/>
              </a:lnSpc>
              <a:buClr>
                <a:srgbClr val="2C68B1"/>
              </a:buClr>
              <a:buNone/>
            </a:pPr>
            <a:endParaRPr lang="en-US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8098601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1682</TotalTime>
  <Words>1543</Words>
  <Application>Microsoft Office PowerPoint</Application>
  <PresentationFormat>Widescreen</PresentationFormat>
  <Paragraphs>244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Cambria</vt:lpstr>
      <vt:lpstr>Cambria Math</vt:lpstr>
      <vt:lpstr>Courier New</vt:lpstr>
      <vt:lpstr>Gill Sans MT</vt:lpstr>
      <vt:lpstr>Wingdings 2</vt:lpstr>
      <vt:lpstr>Dividend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ems</dc:creator>
  <cp:lastModifiedBy>Suneela Zafar</cp:lastModifiedBy>
  <cp:revision>386</cp:revision>
  <dcterms:created xsi:type="dcterms:W3CDTF">2022-08-25T07:12:22Z</dcterms:created>
  <dcterms:modified xsi:type="dcterms:W3CDTF">2025-10-02T05:57:27Z</dcterms:modified>
</cp:coreProperties>
</file>