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</p:sldMasterIdLst>
  <p:sldIdLst>
    <p:sldId id="441" r:id="rId3"/>
    <p:sldId id="378" r:id="rId4"/>
    <p:sldId id="425" r:id="rId5"/>
    <p:sldId id="426" r:id="rId6"/>
    <p:sldId id="427" r:id="rId7"/>
    <p:sldId id="429" r:id="rId8"/>
    <p:sldId id="412" r:id="rId9"/>
    <p:sldId id="413" r:id="rId10"/>
    <p:sldId id="416" r:id="rId11"/>
    <p:sldId id="414" r:id="rId12"/>
    <p:sldId id="417" r:id="rId13"/>
    <p:sldId id="442" r:id="rId14"/>
    <p:sldId id="418" r:id="rId15"/>
    <p:sldId id="432" r:id="rId16"/>
    <p:sldId id="431" r:id="rId17"/>
    <p:sldId id="434" r:id="rId18"/>
    <p:sldId id="433" r:id="rId19"/>
    <p:sldId id="430" r:id="rId20"/>
    <p:sldId id="422" r:id="rId21"/>
    <p:sldId id="420" r:id="rId22"/>
    <p:sldId id="435" r:id="rId23"/>
    <p:sldId id="436" r:id="rId24"/>
    <p:sldId id="437" r:id="rId25"/>
    <p:sldId id="438" r:id="rId26"/>
    <p:sldId id="439" r:id="rId27"/>
    <p:sldId id="415" r:id="rId28"/>
    <p:sldId id="440" r:id="rId29"/>
    <p:sldId id="281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3E61"/>
    <a:srgbClr val="2C68B1"/>
    <a:srgbClr val="66FF66"/>
    <a:srgbClr val="00FFFF"/>
    <a:srgbClr val="4D1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D35C57-5252-4492-9CEA-0E7C1FD0ED50}" v="6" dt="2022-08-25T07:13:49.0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7001" autoAdjust="0"/>
    <p:restoredTop sz="93487" autoAdjust="0"/>
  </p:normalViewPr>
  <p:slideViewPr>
    <p:cSldViewPr snapToGrid="0">
      <p:cViewPr>
        <p:scale>
          <a:sx n="42" d="100"/>
          <a:sy n="42" d="100"/>
        </p:scale>
        <p:origin x="64" y="6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microsoft.com/office/2015/10/relationships/revisionInfo" Target="revisionInfo.xml"/><Relationship Id="rId8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>
                <a:solidFill>
                  <a:srgbClr val="4D1434">
                    <a:lumMod val="75000"/>
                    <a:lumOff val="25000"/>
                  </a:srgbClr>
                </a:solidFill>
              </a:rPr>
              <a:pPr/>
              <a:t>9/25/2025</a:t>
            </a:fld>
            <a:endParaRPr lang="en-US" dirty="0">
              <a:solidFill>
                <a:srgbClr val="4D1434">
                  <a:lumMod val="75000"/>
                  <a:lumOff val="2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>
              <a:solidFill>
                <a:srgbClr val="4D1434">
                  <a:lumMod val="75000"/>
                  <a:lumOff val="2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>
                <a:solidFill>
                  <a:srgbClr val="4D1434">
                    <a:lumMod val="75000"/>
                    <a:lumOff val="2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4D1434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79563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>
                <a:solidFill>
                  <a:srgbClr val="903163"/>
                </a:solidFill>
              </a:rPr>
              <a:pPr/>
              <a:t>9/25/2025</a:t>
            </a:fld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>
                <a:solidFill>
                  <a:srgbClr val="903163"/>
                </a:solidFill>
              </a:rPr>
              <a:pPr/>
              <a:t>‹#›</a:t>
            </a:fld>
            <a:endParaRPr lang="en-US" dirty="0">
              <a:solidFill>
                <a:srgbClr val="90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545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>
                <a:solidFill>
                  <a:srgbClr val="4D1434">
                    <a:lumMod val="75000"/>
                    <a:lumOff val="25000"/>
                  </a:srgbClr>
                </a:solidFill>
              </a:rPr>
              <a:pPr/>
              <a:t>9/25/2025</a:t>
            </a:fld>
            <a:endParaRPr lang="en-US" dirty="0">
              <a:solidFill>
                <a:srgbClr val="4D1434">
                  <a:lumMod val="75000"/>
                  <a:lumOff val="2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>
              <a:solidFill>
                <a:srgbClr val="4D1434">
                  <a:lumMod val="75000"/>
                  <a:lumOff val="2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>
                <a:solidFill>
                  <a:srgbClr val="4D1434">
                    <a:lumMod val="75000"/>
                    <a:lumOff val="2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4D1434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29926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>
                <a:solidFill>
                  <a:srgbClr val="903163"/>
                </a:solidFill>
              </a:rPr>
              <a:pPr/>
              <a:t>9/25/2025</a:t>
            </a:fld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903163"/>
                </a:solidFill>
              </a:rPr>
              <a:pPr/>
              <a:t>‹#›</a:t>
            </a:fld>
            <a:endParaRPr lang="en-US" dirty="0">
              <a:solidFill>
                <a:srgbClr val="90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90995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>
                <a:solidFill>
                  <a:srgbClr val="903163"/>
                </a:solidFill>
              </a:rPr>
              <a:pPr/>
              <a:t>9/25/2025</a:t>
            </a:fld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903163"/>
                </a:solidFill>
              </a:rPr>
              <a:pPr/>
              <a:t>‹#›</a:t>
            </a:fld>
            <a:endParaRPr lang="en-US" dirty="0">
              <a:solidFill>
                <a:srgbClr val="90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3622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>
                <a:solidFill>
                  <a:srgbClr val="903163"/>
                </a:solidFill>
              </a:rPr>
              <a:pPr/>
              <a:t>9/25/2025</a:t>
            </a:fld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903163"/>
                </a:solidFill>
              </a:rPr>
              <a:pPr/>
              <a:t>‹#›</a:t>
            </a:fld>
            <a:endParaRPr lang="en-US" dirty="0">
              <a:solidFill>
                <a:srgbClr val="90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0749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>
                <a:solidFill>
                  <a:srgbClr val="903163"/>
                </a:solidFill>
              </a:rPr>
              <a:pPr/>
              <a:t>9/25/2025</a:t>
            </a:fld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903163"/>
                </a:solidFill>
              </a:rPr>
              <a:pPr/>
              <a:t>‹#›</a:t>
            </a:fld>
            <a:endParaRPr lang="en-US" dirty="0">
              <a:solidFill>
                <a:srgbClr val="90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94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>
                <a:solidFill>
                  <a:srgbClr val="4D1434">
                    <a:lumMod val="75000"/>
                    <a:lumOff val="25000"/>
                  </a:srgbClr>
                </a:solidFill>
              </a:rPr>
              <a:pPr/>
              <a:t>9/25/2025</a:t>
            </a:fld>
            <a:endParaRPr lang="en-US" dirty="0">
              <a:solidFill>
                <a:srgbClr val="4D1434">
                  <a:lumMod val="75000"/>
                  <a:lumOff val="2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>
              <a:solidFill>
                <a:srgbClr val="4D1434">
                  <a:lumMod val="75000"/>
                  <a:lumOff val="2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>
                <a:solidFill>
                  <a:srgbClr val="4D1434">
                    <a:lumMod val="75000"/>
                    <a:lumOff val="2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4D1434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72913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>
                <a:solidFill>
                  <a:srgbClr val="903163"/>
                </a:solidFill>
              </a:rPr>
              <a:pPr/>
              <a:t>9/25/2025</a:t>
            </a:fld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903163"/>
                </a:solidFill>
              </a:rPr>
              <a:pPr/>
              <a:t>‹#›</a:t>
            </a:fld>
            <a:endParaRPr lang="en-US" dirty="0">
              <a:solidFill>
                <a:srgbClr val="90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681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>
                <a:solidFill>
                  <a:srgbClr val="903163"/>
                </a:solidFill>
              </a:rPr>
              <a:pPr/>
              <a:t>9/25/2025</a:t>
            </a:fld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903163"/>
                </a:solidFill>
              </a:rPr>
              <a:pPr/>
              <a:t>‹#›</a:t>
            </a:fld>
            <a:endParaRPr lang="en-US" dirty="0">
              <a:solidFill>
                <a:srgbClr val="90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6372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>
                <a:solidFill>
                  <a:srgbClr val="4D1434">
                    <a:lumMod val="75000"/>
                    <a:lumOff val="25000"/>
                  </a:srgbClr>
                </a:solidFill>
              </a:rPr>
              <a:pPr/>
              <a:t>9/25/2025</a:t>
            </a:fld>
            <a:endParaRPr lang="en-US" dirty="0">
              <a:solidFill>
                <a:srgbClr val="4D1434">
                  <a:lumMod val="75000"/>
                  <a:lumOff val="2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>
                <a:solidFill>
                  <a:srgbClr val="4D1434">
                    <a:lumMod val="75000"/>
                    <a:lumOff val="2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4D1434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101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>
                <a:solidFill>
                  <a:srgbClr val="903163"/>
                </a:solidFill>
              </a:rPr>
              <a:pPr/>
              <a:t>9/25/2025</a:t>
            </a:fld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>
                <a:solidFill>
                  <a:srgbClr val="903163"/>
                </a:solidFill>
              </a:rPr>
              <a:pPr/>
              <a:t>‹#›</a:t>
            </a:fld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99468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8733" y="2989389"/>
            <a:ext cx="11409162" cy="3842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Subtitle 2"/>
          <p:cNvSpPr txBox="1">
            <a:spLocks/>
          </p:cNvSpPr>
          <p:nvPr/>
        </p:nvSpPr>
        <p:spPr>
          <a:xfrm>
            <a:off x="596434" y="6169591"/>
            <a:ext cx="10993546" cy="65792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000" b="1" cap="none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School of Electrical Engineering and Computer Science (SEECS),  NUST,  Pakistan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2246" y="645379"/>
            <a:ext cx="2526886" cy="2526886"/>
          </a:xfrm>
          <a:prstGeom prst="rect">
            <a:avLst/>
          </a:prstGeom>
        </p:spPr>
      </p:pic>
      <p:sp>
        <p:nvSpPr>
          <p:cNvPr id="26" name="Title 1"/>
          <p:cNvSpPr txBox="1">
            <a:spLocks/>
          </p:cNvSpPr>
          <p:nvPr/>
        </p:nvSpPr>
        <p:spPr>
          <a:xfrm>
            <a:off x="825305" y="3197135"/>
            <a:ext cx="4600136" cy="704306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4400" dirty="0">
              <a:solidFill>
                <a:schemeClr val="bg1"/>
              </a:solidFill>
            </a:endParaRPr>
          </a:p>
        </p:txBody>
      </p:sp>
      <p:pic>
        <p:nvPicPr>
          <p:cNvPr id="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8626" y="92762"/>
            <a:ext cx="11409162" cy="611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itle 1"/>
          <p:cNvSpPr txBox="1">
            <a:spLocks/>
          </p:cNvSpPr>
          <p:nvPr/>
        </p:nvSpPr>
        <p:spPr>
          <a:xfrm>
            <a:off x="789864" y="907364"/>
            <a:ext cx="8662730" cy="886265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800" b="1" cap="none" dirty="0">
                <a:solidFill>
                  <a:srgbClr val="2A3E61"/>
                </a:solidFill>
              </a:rPr>
              <a:t>MACHINE LEARNING LAB</a:t>
            </a:r>
          </a:p>
        </p:txBody>
      </p:sp>
      <p:sp>
        <p:nvSpPr>
          <p:cNvPr id="29" name="Title 1"/>
          <p:cNvSpPr txBox="1">
            <a:spLocks/>
          </p:cNvSpPr>
          <p:nvPr/>
        </p:nvSpPr>
        <p:spPr>
          <a:xfrm>
            <a:off x="825304" y="1779559"/>
            <a:ext cx="8662730" cy="928467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800" b="1" cap="none" dirty="0">
                <a:solidFill>
                  <a:srgbClr val="2C68B1"/>
                </a:solidFill>
              </a:rPr>
              <a:t>Introduction to OpenCV, PIL</a:t>
            </a:r>
          </a:p>
        </p:txBody>
      </p:sp>
    </p:spTree>
    <p:extLst>
      <p:ext uri="{BB962C8B-B14F-4D97-AF65-F5344CB8AC3E}">
        <p14:creationId xmlns:p14="http://schemas.microsoft.com/office/powerpoint/2010/main" val="2346999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10508566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Overview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73722" y="1153551"/>
            <a:ext cx="10663311" cy="5289452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This lab will be centered on the following: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cs typeface="Courier New" panose="02070309020205020404" pitchFamily="49" charset="0"/>
              </a:rPr>
              <a:t>Understand the image data as an array of pixels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cs typeface="Courier New" panose="02070309020205020404" pitchFamily="49" charset="0"/>
              </a:rPr>
              <a:t>Load and Save images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cs typeface="Courier New" panose="02070309020205020404" pitchFamily="49" charset="0"/>
              </a:rPr>
              <a:t>Display images in different windows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cs typeface="Courier New" panose="02070309020205020404" pitchFamily="49" charset="0"/>
              </a:rPr>
              <a:t>Access and modify pixels in images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cs typeface="Courier New" panose="02070309020205020404" pitchFamily="49" charset="0"/>
              </a:rPr>
              <a:t>Access and modify regions in images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cs typeface="Courier New" panose="02070309020205020404" pitchFamily="49" charset="0"/>
              </a:rPr>
              <a:t>Place lines, rectangles, circles and text in images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cs typeface="Courier New" panose="02070309020205020404" pitchFamily="49" charset="0"/>
              </a:rPr>
              <a:t>Resize images at various scales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cs typeface="Courier New" panose="02070309020205020404" pitchFamily="49" charset="0"/>
              </a:rPr>
              <a:t>Rotate images at various angles</a:t>
            </a:r>
          </a:p>
        </p:txBody>
      </p:sp>
    </p:spTree>
    <p:extLst>
      <p:ext uri="{BB962C8B-B14F-4D97-AF65-F5344CB8AC3E}">
        <p14:creationId xmlns:p14="http://schemas.microsoft.com/office/powerpoint/2010/main" val="3659518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10508566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OpenCV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73723" y="1153551"/>
            <a:ext cx="10283484" cy="4119489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OpenCV is an imaging library used widely for computer vision tasks such as feature extraction, stereovision, image stitching, pose estimation and many more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Computer vision is the field that involves getting information from image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OpenCV is available in Python, C++ and </a:t>
            </a:r>
            <a:r>
              <a:rPr lang="en-US" sz="2400" cap="none" dirty="0" err="1">
                <a:solidFill>
                  <a:prstClr val="black"/>
                </a:solidFill>
                <a:cs typeface="Courier New" panose="02070309020205020404" pitchFamily="49" charset="0"/>
              </a:rPr>
              <a:t>MatLab</a:t>
            </a: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To use OpenCV in Python, we import the library:</a:t>
            </a: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422572" y="4920175"/>
            <a:ext cx="7091290" cy="1062988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cv2</a:t>
            </a:r>
          </a:p>
        </p:txBody>
      </p:sp>
    </p:spTree>
    <p:extLst>
      <p:ext uri="{BB962C8B-B14F-4D97-AF65-F5344CB8AC3E}">
        <p14:creationId xmlns:p14="http://schemas.microsoft.com/office/powerpoint/2010/main" val="783000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10508566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Images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73723" y="1153551"/>
            <a:ext cx="9912474" cy="583809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An image is an array of unit squares called “pixels”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951" y="1737360"/>
            <a:ext cx="7522415" cy="4936585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2806866" y="3067662"/>
            <a:ext cx="3321218" cy="61663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Pixels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4138232" y="2878331"/>
            <a:ext cx="807720" cy="433751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4138232" y="3285706"/>
            <a:ext cx="807720" cy="26376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4192016" y="3341388"/>
            <a:ext cx="753936" cy="376162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/>
          <p:cNvSpPr txBox="1">
            <a:spLocks/>
          </p:cNvSpPr>
          <p:nvPr/>
        </p:nvSpPr>
        <p:spPr>
          <a:xfrm>
            <a:off x="773723" y="3951173"/>
            <a:ext cx="3825573" cy="2626093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Each pixel has a location (</a:t>
            </a:r>
            <a:r>
              <a:rPr lang="en-US" sz="2400" cap="none" dirty="0" err="1">
                <a:solidFill>
                  <a:prstClr val="black"/>
                </a:solidFill>
                <a:cs typeface="Courier New" panose="02070309020205020404" pitchFamily="49" charset="0"/>
              </a:rPr>
              <a:t>x,y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) in the image array</a:t>
            </a: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Each pixel has some color values (intensity level)</a:t>
            </a:r>
          </a:p>
        </p:txBody>
      </p:sp>
    </p:spTree>
    <p:extLst>
      <p:ext uri="{BB962C8B-B14F-4D97-AF65-F5344CB8AC3E}">
        <p14:creationId xmlns:p14="http://schemas.microsoft.com/office/powerpoint/2010/main" val="3357918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994" y="2493626"/>
            <a:ext cx="3128212" cy="2052888"/>
          </a:xfrm>
          <a:prstGeom prst="rect">
            <a:avLst/>
          </a:prstGeom>
        </p:spPr>
      </p:pic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10508566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Images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73723" y="1153551"/>
            <a:ext cx="9912474" cy="2037570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A colored image has 3 channels, i.e.  there are 3 color values in every pixel: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Blue 		(channel 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Green 		(channel 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Red 		(channel 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By default, OpenCV stores channels as BGR (not RGB)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203" y="3345863"/>
            <a:ext cx="3188680" cy="209257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3156" y="2939586"/>
            <a:ext cx="3128212" cy="2052888"/>
          </a:xfrm>
          <a:prstGeom prst="rect">
            <a:avLst/>
          </a:prstGeom>
        </p:spPr>
      </p:pic>
      <p:cxnSp>
        <p:nvCxnSpPr>
          <p:cNvPr id="13" name="Straight Arrow Connector 12"/>
          <p:cNvCxnSpPr/>
          <p:nvPr/>
        </p:nvCxnSpPr>
        <p:spPr>
          <a:xfrm>
            <a:off x="4975981" y="4333653"/>
            <a:ext cx="1475874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8953" y="3385546"/>
            <a:ext cx="3128212" cy="2052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459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767" y="2299201"/>
            <a:ext cx="4767439" cy="3128630"/>
          </a:xfrm>
          <a:prstGeom prst="rect">
            <a:avLst/>
          </a:prstGeom>
        </p:spPr>
      </p:pic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10508566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Images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73722" y="1153551"/>
            <a:ext cx="10487835" cy="5391628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An image is essentially a 3-D array defined by its height (y), width (x) and number of channels (n)</a:t>
            </a: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Notice that the y-axis points </a:t>
            </a:r>
          </a:p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downwards in the pixel frame</a:t>
            </a: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3929" y="2745161"/>
            <a:ext cx="4767439" cy="31286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726" y="3191121"/>
            <a:ext cx="4767439" cy="3128630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>
            <a:off x="5437471" y="3361103"/>
            <a:ext cx="4523874" cy="22979"/>
          </a:xfrm>
          <a:prstGeom prst="straightConnector1">
            <a:avLst/>
          </a:prstGeom>
          <a:ln w="1016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5412848" y="3402011"/>
            <a:ext cx="17405" cy="2821488"/>
          </a:xfrm>
          <a:prstGeom prst="straightConnector1">
            <a:avLst/>
          </a:prstGeom>
          <a:ln w="1016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5434650" y="2354803"/>
            <a:ext cx="1527624" cy="987311"/>
          </a:xfrm>
          <a:prstGeom prst="straightConnector1">
            <a:avLst/>
          </a:prstGeom>
          <a:ln w="1016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itle 1"/>
          <p:cNvSpPr txBox="1">
            <a:spLocks/>
          </p:cNvSpPr>
          <p:nvPr/>
        </p:nvSpPr>
        <p:spPr>
          <a:xfrm>
            <a:off x="9404836" y="3338133"/>
            <a:ext cx="3321218" cy="61663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5598902" y="5518958"/>
            <a:ext cx="3321218" cy="881003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</a:p>
        </p:txBody>
      </p:sp>
      <p:sp>
        <p:nvSpPr>
          <p:cNvPr id="21" name="Title 1"/>
          <p:cNvSpPr txBox="1">
            <a:spLocks/>
          </p:cNvSpPr>
          <p:nvPr/>
        </p:nvSpPr>
        <p:spPr>
          <a:xfrm>
            <a:off x="6957929" y="2099783"/>
            <a:ext cx="3321218" cy="61663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4183241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10508566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Load Images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73722" y="1153551"/>
            <a:ext cx="10663311" cy="5289452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To load an image, we use the </a:t>
            </a:r>
            <a:r>
              <a:rPr lang="en-US" sz="2400" b="1" cap="none" dirty="0" err="1">
                <a:solidFill>
                  <a:prstClr val="black"/>
                </a:solidFill>
                <a:cs typeface="Courier New" panose="02070309020205020404" pitchFamily="49" charset="0"/>
              </a:rPr>
              <a:t>imread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 function:</a:t>
            </a: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The above function will load the image file and place it in </a:t>
            </a:r>
            <a:r>
              <a:rPr lang="en-US" sz="2400" i="1" cap="none" dirty="0" err="1">
                <a:solidFill>
                  <a:prstClr val="black"/>
                </a:solidFill>
                <a:cs typeface="Courier New" panose="02070309020205020404" pitchFamily="49" charset="0"/>
              </a:rPr>
              <a:t>imgA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.</a:t>
            </a: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The</a:t>
            </a:r>
            <a:r>
              <a:rPr lang="en-US" sz="2400" i="1" cap="none" dirty="0">
                <a:solidFill>
                  <a:prstClr val="black"/>
                </a:solidFill>
                <a:cs typeface="Courier New" panose="02070309020205020404" pitchFamily="49" charset="0"/>
              </a:rPr>
              <a:t> </a:t>
            </a:r>
            <a:r>
              <a:rPr lang="en-US" sz="2400" i="1" cap="none" dirty="0" err="1">
                <a:solidFill>
                  <a:prstClr val="black"/>
                </a:solidFill>
                <a:cs typeface="Courier New" panose="02070309020205020404" pitchFamily="49" charset="0"/>
              </a:rPr>
              <a:t>imgA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 is like a variable that stores an image and we can use it in our program to reference the image</a:t>
            </a: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(The second argument in the </a:t>
            </a:r>
            <a:r>
              <a:rPr lang="en-US" sz="2400" cap="none" dirty="0" err="1">
                <a:solidFill>
                  <a:prstClr val="black"/>
                </a:solidFill>
                <a:cs typeface="Courier New" panose="02070309020205020404" pitchFamily="49" charset="0"/>
              </a:rPr>
              <a:t>imread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 function chooses the color mode;</a:t>
            </a:r>
          </a:p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0 is for grayscale, 1 is for colored and -1 is for alpha-channel inclusive)</a:t>
            </a:r>
            <a:endParaRPr lang="en-US" sz="2400" dirty="0">
              <a:solidFill>
                <a:prstClr val="black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559732" y="1817372"/>
            <a:ext cx="7091290" cy="1980905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imgA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cv2.imread(“my_image.jpg”, 1)</a:t>
            </a:r>
          </a:p>
        </p:txBody>
      </p:sp>
    </p:spTree>
    <p:extLst>
      <p:ext uri="{BB962C8B-B14F-4D97-AF65-F5344CB8AC3E}">
        <p14:creationId xmlns:p14="http://schemas.microsoft.com/office/powerpoint/2010/main" val="703008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10508566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Load Images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73722" y="1153551"/>
            <a:ext cx="10663311" cy="5289452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If the image is in the same directory as the script file, the image filename is directly used:</a:t>
            </a: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If the image is in a different directory then the entire path to the image must be provided:</a:t>
            </a:r>
            <a:endParaRPr lang="en-US" sz="2400" dirty="0">
              <a:solidFill>
                <a:prstClr val="black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559732" y="2164081"/>
            <a:ext cx="7091290" cy="624840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imgA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cv2.imread(“p3at.jpg”, 1)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738553" y="4099561"/>
            <a:ext cx="10698480" cy="624840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imgB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cv2.imread('D://docs/Robot Pics/turtlebot.jpg', 1)</a:t>
            </a:r>
          </a:p>
        </p:txBody>
      </p:sp>
    </p:spTree>
    <p:extLst>
      <p:ext uri="{BB962C8B-B14F-4D97-AF65-F5344CB8AC3E}">
        <p14:creationId xmlns:p14="http://schemas.microsoft.com/office/powerpoint/2010/main" val="2014141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10508566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Display Images (IDE)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73722" y="1153551"/>
            <a:ext cx="10663311" cy="5289452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Once the image is loaded, it can be displayed using the </a:t>
            </a:r>
            <a:r>
              <a:rPr lang="en-US" sz="2400" b="1" cap="none" dirty="0" err="1">
                <a:solidFill>
                  <a:prstClr val="black"/>
                </a:solidFill>
                <a:cs typeface="Courier New" panose="02070309020205020404" pitchFamily="49" charset="0"/>
              </a:rPr>
              <a:t>imshow</a:t>
            </a:r>
            <a:r>
              <a:rPr lang="en-US" sz="2400" b="1" cap="none" dirty="0">
                <a:solidFill>
                  <a:prstClr val="black"/>
                </a:solidFill>
                <a:cs typeface="Courier New" panose="02070309020205020404" pitchFamily="49" charset="0"/>
              </a:rPr>
              <a:t> 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function:</a:t>
            </a:r>
          </a:p>
          <a:p>
            <a:endParaRPr lang="en-US" sz="2400" b="1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b="1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The first argument is the </a:t>
            </a:r>
            <a:r>
              <a:rPr lang="en-US" sz="2400" i="1" cap="none" dirty="0">
                <a:solidFill>
                  <a:prstClr val="black"/>
                </a:solidFill>
                <a:cs typeface="Courier New" panose="02070309020205020404" pitchFamily="49" charset="0"/>
              </a:rPr>
              <a:t>window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 name. This name appears at the top of the window which shows the image.</a:t>
            </a: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The second argument is the image object that is to be displayed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559732" y="1970846"/>
            <a:ext cx="7091290" cy="620968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cv2.imshow('image1',imgA)</a:t>
            </a:r>
          </a:p>
        </p:txBody>
      </p:sp>
    </p:spTree>
    <p:extLst>
      <p:ext uri="{BB962C8B-B14F-4D97-AF65-F5344CB8AC3E}">
        <p14:creationId xmlns:p14="http://schemas.microsoft.com/office/powerpoint/2010/main" val="3685102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10508566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Display Images (IDE)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73722" y="1153551"/>
            <a:ext cx="10663311" cy="5289452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Once the image is loaded, it can be displayed using the </a:t>
            </a:r>
            <a:r>
              <a:rPr lang="en-US" sz="2400" b="1" cap="none" dirty="0" err="1">
                <a:solidFill>
                  <a:prstClr val="black"/>
                </a:solidFill>
                <a:cs typeface="Courier New" panose="02070309020205020404" pitchFamily="49" charset="0"/>
              </a:rPr>
              <a:t>imshow</a:t>
            </a:r>
            <a:r>
              <a:rPr lang="en-US" sz="2400" b="1" cap="none" dirty="0">
                <a:solidFill>
                  <a:prstClr val="black"/>
                </a:solidFill>
                <a:cs typeface="Courier New" panose="02070309020205020404" pitchFamily="49" charset="0"/>
              </a:rPr>
              <a:t> 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function:</a:t>
            </a:r>
          </a:p>
          <a:p>
            <a:endParaRPr lang="en-US" sz="2400" b="1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b="1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b="1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When the </a:t>
            </a:r>
            <a:r>
              <a:rPr lang="en-US" sz="2400" cap="none" dirty="0" err="1">
                <a:solidFill>
                  <a:prstClr val="black"/>
                </a:solidFill>
                <a:cs typeface="Courier New" panose="02070309020205020404" pitchFamily="49" charset="0"/>
              </a:rPr>
              <a:t>imshow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 function is used, the image appears only for a very small time before it closes. To avoid this, the </a:t>
            </a:r>
            <a:r>
              <a:rPr lang="en-US" sz="2400" b="1" cap="none" dirty="0" err="1">
                <a:solidFill>
                  <a:prstClr val="black"/>
                </a:solidFill>
                <a:cs typeface="Courier New" panose="02070309020205020404" pitchFamily="49" charset="0"/>
              </a:rPr>
              <a:t>waitKey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 function is used to hold the image.</a:t>
            </a: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The argument for the </a:t>
            </a:r>
            <a:r>
              <a:rPr lang="en-US" sz="2400" cap="none" dirty="0" err="1">
                <a:solidFill>
                  <a:prstClr val="black"/>
                </a:solidFill>
                <a:cs typeface="Courier New" panose="02070309020205020404" pitchFamily="49" charset="0"/>
              </a:rPr>
              <a:t>waitkey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 function specifies the time (in milliseconds) to hold the image. If the argument is 0, then the image is held for infinite time until the user presses a key.</a:t>
            </a:r>
            <a:endParaRPr lang="en-US" sz="2400" dirty="0">
              <a:solidFill>
                <a:prstClr val="black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559732" y="1972286"/>
            <a:ext cx="7091290" cy="141991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cv2.imshow('image1',imgA)</a:t>
            </a:r>
          </a:p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cv2.waitKey(0)</a:t>
            </a:r>
          </a:p>
        </p:txBody>
      </p:sp>
    </p:spTree>
    <p:extLst>
      <p:ext uri="{BB962C8B-B14F-4D97-AF65-F5344CB8AC3E}">
        <p14:creationId xmlns:p14="http://schemas.microsoft.com/office/powerpoint/2010/main" val="627292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10508566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Display Images (IDE)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73722" y="1153551"/>
            <a:ext cx="10663311" cy="5289452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The following code will display two images </a:t>
            </a:r>
          </a:p>
          <a:p>
            <a:endParaRPr lang="en-US" sz="2400" b="1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b="1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b="1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b="1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To ensure all windows are closed, the </a:t>
            </a:r>
            <a:r>
              <a:rPr lang="en-US" sz="2400" b="1" cap="none" dirty="0" err="1">
                <a:solidFill>
                  <a:prstClr val="black"/>
                </a:solidFill>
                <a:cs typeface="Courier New" panose="02070309020205020404" pitchFamily="49" charset="0"/>
              </a:rPr>
              <a:t>destroyAllWIndows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 function is used. </a:t>
            </a: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(Another function called </a:t>
            </a:r>
            <a:r>
              <a:rPr lang="en-US" sz="2400" i="1" cap="none" dirty="0" err="1">
                <a:solidFill>
                  <a:prstClr val="black"/>
                </a:solidFill>
                <a:cs typeface="Courier New" panose="02070309020205020404" pitchFamily="49" charset="0"/>
              </a:rPr>
              <a:t>destroyWindow</a:t>
            </a:r>
            <a:r>
              <a:rPr lang="en-US" sz="2400" i="1" cap="none" dirty="0">
                <a:solidFill>
                  <a:prstClr val="black"/>
                </a:solidFill>
                <a:cs typeface="Courier New" panose="02070309020205020404" pitchFamily="49" charset="0"/>
              </a:rPr>
              <a:t>(‘</a:t>
            </a:r>
            <a:r>
              <a:rPr lang="en-US" sz="2400" i="1" cap="none" dirty="0" err="1">
                <a:solidFill>
                  <a:prstClr val="black"/>
                </a:solidFill>
                <a:cs typeface="Courier New" panose="02070309020205020404" pitchFamily="49" charset="0"/>
              </a:rPr>
              <a:t>window_name</a:t>
            </a:r>
            <a:r>
              <a:rPr lang="en-US" sz="2400" i="1" cap="none" dirty="0">
                <a:solidFill>
                  <a:prstClr val="black"/>
                </a:solidFill>
                <a:cs typeface="Courier New" panose="02070309020205020404" pitchFamily="49" charset="0"/>
              </a:rPr>
              <a:t>’) 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can be used to close a specific window)</a:t>
            </a:r>
            <a:endParaRPr lang="en-US" sz="2400" dirty="0">
              <a:solidFill>
                <a:prstClr val="black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559732" y="1783080"/>
            <a:ext cx="7091290" cy="2118360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cv2.imshow('image1',imgA)</a:t>
            </a:r>
          </a:p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cv2.imshow('image1',imgB)</a:t>
            </a:r>
          </a:p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cv2.waitKey(0)</a:t>
            </a:r>
          </a:p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cv2.destroyAllWindows()</a:t>
            </a:r>
          </a:p>
        </p:txBody>
      </p:sp>
    </p:spTree>
    <p:extLst>
      <p:ext uri="{BB962C8B-B14F-4D97-AF65-F5344CB8AC3E}">
        <p14:creationId xmlns:p14="http://schemas.microsoft.com/office/powerpoint/2010/main" val="853415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10508566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Display Images (</a:t>
            </a:r>
            <a:r>
              <a:rPr lang="en-US" sz="4400" cap="none" dirty="0" err="1">
                <a:solidFill>
                  <a:srgbClr val="2A3E61"/>
                </a:solidFill>
              </a:rPr>
              <a:t>CoLab</a:t>
            </a:r>
            <a:r>
              <a:rPr lang="en-US" sz="4400" cap="none" dirty="0">
                <a:solidFill>
                  <a:srgbClr val="2A3E61"/>
                </a:solidFill>
              </a:rPr>
              <a:t>)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73722" y="1153551"/>
            <a:ext cx="10663311" cy="5289452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When using Google </a:t>
            </a:r>
            <a:r>
              <a:rPr lang="en-US" sz="2400" cap="none" dirty="0" err="1">
                <a:solidFill>
                  <a:prstClr val="black"/>
                </a:solidFill>
                <a:cs typeface="Courier New" panose="02070309020205020404" pitchFamily="49" charset="0"/>
              </a:rPr>
              <a:t>CoLab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, the </a:t>
            </a:r>
            <a:r>
              <a:rPr lang="en-US" sz="2400" b="1" cap="none" dirty="0">
                <a:solidFill>
                  <a:prstClr val="black"/>
                </a:solidFill>
                <a:cs typeface="Courier New" panose="02070309020205020404" pitchFamily="49" charset="0"/>
              </a:rPr>
              <a:t>cv2.imshow 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function may not work.</a:t>
            </a: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To display images in the </a:t>
            </a:r>
            <a:r>
              <a:rPr lang="en-US" sz="2400" cap="none" dirty="0" err="1">
                <a:solidFill>
                  <a:prstClr val="black"/>
                </a:solidFill>
                <a:cs typeface="Courier New" panose="02070309020205020404" pitchFamily="49" charset="0"/>
              </a:rPr>
              <a:t>CoLab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 browser window, use the </a:t>
            </a:r>
            <a:r>
              <a:rPr lang="en-US" sz="2400" b="1" cap="none" dirty="0">
                <a:solidFill>
                  <a:prstClr val="black"/>
                </a:solidFill>
                <a:cs typeface="Courier New" panose="02070309020205020404" pitchFamily="49" charset="0"/>
              </a:rPr>
              <a:t>cv2_imshow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 function (notice the underscore)</a:t>
            </a:r>
          </a:p>
          <a:p>
            <a:endParaRPr lang="en-US" sz="2400" b="1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b="1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b="1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b="1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240424" y="3074826"/>
            <a:ext cx="8497474" cy="2118360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google.colab.patches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import cv2_imshow</a:t>
            </a:r>
          </a:p>
          <a:p>
            <a:endParaRPr lang="en-US" sz="2400" cap="none" dirty="0">
              <a:solidFill>
                <a:srgbClr val="40619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imgC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cv2.imread(“my_image.jpg”, 1)</a:t>
            </a:r>
          </a:p>
          <a:p>
            <a:endParaRPr lang="en-US" sz="2400" cap="none" dirty="0">
              <a:solidFill>
                <a:srgbClr val="40619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cv2_imshow(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imgC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55921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10508566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Save Images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73722" y="1153551"/>
            <a:ext cx="10663311" cy="5289452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To save an image on disk, the </a:t>
            </a:r>
            <a:r>
              <a:rPr lang="en-US" sz="2400" b="1" cap="none" dirty="0" err="1">
                <a:solidFill>
                  <a:prstClr val="black"/>
                </a:solidFill>
                <a:cs typeface="Courier New" panose="02070309020205020404" pitchFamily="49" charset="0"/>
              </a:rPr>
              <a:t>imwrite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 function is used:</a:t>
            </a:r>
          </a:p>
          <a:p>
            <a:endParaRPr lang="en-US" sz="2400" b="1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b="1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b="1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The first argument is the name of the image file to be saved</a:t>
            </a: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The second argument is the image object that we are saving</a:t>
            </a:r>
            <a:endParaRPr lang="en-US" sz="2400" dirty="0">
              <a:solidFill>
                <a:prstClr val="black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559732" y="1798320"/>
            <a:ext cx="7620588" cy="563880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cv2.imwrite(‘myImageRotated.jpg',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imgA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86617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4184" y="3414764"/>
            <a:ext cx="4283034" cy="2810741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>
            <a:off x="7025639" y="3281695"/>
            <a:ext cx="4764506" cy="22979"/>
          </a:xfrm>
          <a:prstGeom prst="straightConnector1">
            <a:avLst/>
          </a:prstGeom>
          <a:ln w="1016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7010399" y="3337843"/>
            <a:ext cx="8024" cy="3269498"/>
          </a:xfrm>
          <a:prstGeom prst="straightConnector1">
            <a:avLst/>
          </a:prstGeom>
          <a:ln w="1016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itle 1"/>
          <p:cNvSpPr txBox="1">
            <a:spLocks/>
          </p:cNvSpPr>
          <p:nvPr/>
        </p:nvSpPr>
        <p:spPr>
          <a:xfrm>
            <a:off x="11514427" y="3201485"/>
            <a:ext cx="553039" cy="61663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7138944" y="6065156"/>
            <a:ext cx="553039" cy="881003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7008194" y="2774250"/>
            <a:ext cx="1028898" cy="61663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23" name="Title 1"/>
          <p:cNvSpPr txBox="1">
            <a:spLocks/>
          </p:cNvSpPr>
          <p:nvPr/>
        </p:nvSpPr>
        <p:spPr>
          <a:xfrm>
            <a:off x="10990442" y="2780919"/>
            <a:ext cx="1028898" cy="61663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619</a:t>
            </a: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6449422" y="3260433"/>
            <a:ext cx="1028898" cy="61663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25" name="Title 1"/>
          <p:cNvSpPr txBox="1">
            <a:spLocks/>
          </p:cNvSpPr>
          <p:nvPr/>
        </p:nvSpPr>
        <p:spPr>
          <a:xfrm>
            <a:off x="6193758" y="5945865"/>
            <a:ext cx="1028898" cy="61663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419</a:t>
            </a:r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548640" y="295425"/>
            <a:ext cx="10508566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Basic Operations</a:t>
            </a:r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773722" y="1153550"/>
            <a:ext cx="10823917" cy="5338689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Consider the image of size 620 x 420</a:t>
            </a: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The</a:t>
            </a:r>
            <a:r>
              <a:rPr lang="en-US" sz="2400" b="1" cap="none" dirty="0">
                <a:solidFill>
                  <a:prstClr val="black"/>
                </a:solidFill>
                <a:cs typeface="Courier New" panose="02070309020205020404" pitchFamily="49" charset="0"/>
              </a:rPr>
              <a:t> 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x-axis goes from 0 to 619</a:t>
            </a:r>
          </a:p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The y-axis goes from 0 to 419</a:t>
            </a: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(The channels go from 0 to 2)</a:t>
            </a:r>
            <a:endParaRPr lang="en-US" sz="2400" dirty="0">
              <a:solidFill>
                <a:prstClr val="black"/>
              </a:solidFill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292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4184" y="3414764"/>
            <a:ext cx="4283034" cy="2810741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>
            <a:off x="7025639" y="3281695"/>
            <a:ext cx="4764506" cy="22979"/>
          </a:xfrm>
          <a:prstGeom prst="straightConnector1">
            <a:avLst/>
          </a:prstGeom>
          <a:ln w="1016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7010399" y="3337843"/>
            <a:ext cx="8024" cy="3269498"/>
          </a:xfrm>
          <a:prstGeom prst="straightConnector1">
            <a:avLst/>
          </a:prstGeom>
          <a:ln w="1016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itle 1"/>
          <p:cNvSpPr txBox="1">
            <a:spLocks/>
          </p:cNvSpPr>
          <p:nvPr/>
        </p:nvSpPr>
        <p:spPr>
          <a:xfrm>
            <a:off x="11514427" y="3201485"/>
            <a:ext cx="553039" cy="61663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7138944" y="6065156"/>
            <a:ext cx="553039" cy="881003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7008194" y="2774250"/>
            <a:ext cx="1028898" cy="61663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23" name="Title 1"/>
          <p:cNvSpPr txBox="1">
            <a:spLocks/>
          </p:cNvSpPr>
          <p:nvPr/>
        </p:nvSpPr>
        <p:spPr>
          <a:xfrm>
            <a:off x="10990442" y="2780919"/>
            <a:ext cx="1028898" cy="61663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619</a:t>
            </a: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6449422" y="3260433"/>
            <a:ext cx="1028898" cy="61663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25" name="Title 1"/>
          <p:cNvSpPr txBox="1">
            <a:spLocks/>
          </p:cNvSpPr>
          <p:nvPr/>
        </p:nvSpPr>
        <p:spPr>
          <a:xfrm>
            <a:off x="6193758" y="5945865"/>
            <a:ext cx="1028898" cy="61663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419</a:t>
            </a:r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548640" y="295425"/>
            <a:ext cx="10508566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Basic Operations</a:t>
            </a:r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773722" y="1153550"/>
            <a:ext cx="10823917" cy="5338689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To get the BGR values of a specific pixel at location (</a:t>
            </a:r>
            <a:r>
              <a:rPr lang="en-US" sz="2400" cap="none" dirty="0" err="1">
                <a:solidFill>
                  <a:prstClr val="black"/>
                </a:solidFill>
                <a:cs typeface="Courier New" panose="02070309020205020404" pitchFamily="49" charset="0"/>
              </a:rPr>
              <a:t>px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, </a:t>
            </a:r>
            <a:r>
              <a:rPr lang="en-US" sz="2400" cap="none" dirty="0" err="1">
                <a:solidFill>
                  <a:prstClr val="black"/>
                </a:solidFill>
                <a:cs typeface="Courier New" panose="02070309020205020404" pitchFamily="49" charset="0"/>
              </a:rPr>
              <a:t>py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), we use:</a:t>
            </a: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8211499" y="5142205"/>
            <a:ext cx="2166789" cy="61663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cap="none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b="1" cap="none" dirty="0" err="1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px,py</a:t>
            </a:r>
            <a:r>
              <a:rPr lang="en-US" sz="2800" b="1" cap="none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1195136" y="1844842"/>
            <a:ext cx="6248400" cy="1444875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cv2.imread(‘bird.jpg', 1)</a:t>
            </a:r>
          </a:p>
          <a:p>
            <a:endParaRPr lang="en-US" sz="2400" cap="none" dirty="0">
              <a:solidFill>
                <a:srgbClr val="40619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px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:]</a:t>
            </a:r>
            <a:endParaRPr lang="en-US" sz="2400" cap="none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Title 1"/>
          <p:cNvSpPr txBox="1">
            <a:spLocks/>
          </p:cNvSpPr>
          <p:nvPr/>
        </p:nvSpPr>
        <p:spPr>
          <a:xfrm>
            <a:off x="7942555" y="2734870"/>
            <a:ext cx="1028898" cy="61663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cap="none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px</a:t>
            </a:r>
            <a:endParaRPr lang="en-US" sz="2400" b="1" cap="none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1" name="Title 1"/>
          <p:cNvSpPr txBox="1">
            <a:spLocks/>
          </p:cNvSpPr>
          <p:nvPr/>
        </p:nvSpPr>
        <p:spPr>
          <a:xfrm>
            <a:off x="6325782" y="5121254"/>
            <a:ext cx="1028898" cy="61663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cap="none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endParaRPr lang="en-US" sz="2400" b="1" cap="none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H="1" flipV="1">
            <a:off x="8129307" y="3137360"/>
            <a:ext cx="1" cy="2244232"/>
          </a:xfrm>
          <a:prstGeom prst="line">
            <a:avLst/>
          </a:prstGeom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 flipV="1">
            <a:off x="6861621" y="5401645"/>
            <a:ext cx="1190781" cy="16179"/>
          </a:xfrm>
          <a:prstGeom prst="line">
            <a:avLst/>
          </a:prstGeom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8028294" y="5318226"/>
            <a:ext cx="202027" cy="202027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"/>
          </a:p>
        </p:txBody>
      </p:sp>
      <p:sp>
        <p:nvSpPr>
          <p:cNvPr id="34" name="Title 1"/>
          <p:cNvSpPr txBox="1">
            <a:spLocks/>
          </p:cNvSpPr>
          <p:nvPr/>
        </p:nvSpPr>
        <p:spPr>
          <a:xfrm>
            <a:off x="773722" y="3406922"/>
            <a:ext cx="5299515" cy="3155573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The first index (</a:t>
            </a:r>
            <a:r>
              <a:rPr lang="en-US" sz="2400" cap="none" dirty="0" err="1">
                <a:solidFill>
                  <a:prstClr val="black"/>
                </a:solidFill>
                <a:cs typeface="Courier New" panose="02070309020205020404" pitchFamily="49" charset="0"/>
              </a:rPr>
              <a:t>py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) is the row of the array. It corresponds to the y-axis</a:t>
            </a: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The second index (</a:t>
            </a:r>
            <a:r>
              <a:rPr lang="en-US" sz="2400" cap="none" dirty="0" err="1">
                <a:solidFill>
                  <a:prstClr val="black"/>
                </a:solidFill>
                <a:cs typeface="Courier New" panose="02070309020205020404" pitchFamily="49" charset="0"/>
              </a:rPr>
              <a:t>px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) is the column of the array. It corresponds to the x-axis</a:t>
            </a: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The third index (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  <a:sym typeface="Wingdings" panose="05000000000000000000" pitchFamily="2" charset="2"/>
              </a:rPr>
              <a:t>:)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 is the channel</a:t>
            </a:r>
            <a:endParaRPr lang="en-US" sz="2400" dirty="0">
              <a:solidFill>
                <a:prstClr val="black"/>
              </a:solidFill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802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4184" y="3414764"/>
            <a:ext cx="4283034" cy="2810741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>
            <a:off x="7025639" y="3281695"/>
            <a:ext cx="4764506" cy="22979"/>
          </a:xfrm>
          <a:prstGeom prst="straightConnector1">
            <a:avLst/>
          </a:prstGeom>
          <a:ln w="1016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7010399" y="3337843"/>
            <a:ext cx="8024" cy="3269498"/>
          </a:xfrm>
          <a:prstGeom prst="straightConnector1">
            <a:avLst/>
          </a:prstGeom>
          <a:ln w="1016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itle 1"/>
          <p:cNvSpPr txBox="1">
            <a:spLocks/>
          </p:cNvSpPr>
          <p:nvPr/>
        </p:nvSpPr>
        <p:spPr>
          <a:xfrm>
            <a:off x="11514427" y="3201485"/>
            <a:ext cx="553039" cy="61663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7138944" y="6065156"/>
            <a:ext cx="553039" cy="881003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7008194" y="2774250"/>
            <a:ext cx="1028898" cy="61663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23" name="Title 1"/>
          <p:cNvSpPr txBox="1">
            <a:spLocks/>
          </p:cNvSpPr>
          <p:nvPr/>
        </p:nvSpPr>
        <p:spPr>
          <a:xfrm>
            <a:off x="10990442" y="2780919"/>
            <a:ext cx="1028898" cy="61663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619</a:t>
            </a: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6449422" y="3260433"/>
            <a:ext cx="1028898" cy="61663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25" name="Title 1"/>
          <p:cNvSpPr txBox="1">
            <a:spLocks/>
          </p:cNvSpPr>
          <p:nvPr/>
        </p:nvSpPr>
        <p:spPr>
          <a:xfrm>
            <a:off x="6193758" y="5945865"/>
            <a:ext cx="1028898" cy="61663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419</a:t>
            </a:r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548640" y="295425"/>
            <a:ext cx="10508566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Basic Operations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1195136" y="1844842"/>
            <a:ext cx="6248400" cy="249403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cv2.imread(‘bird.jpg', 1)</a:t>
            </a:r>
          </a:p>
          <a:p>
            <a:endParaRPr lang="en-US" sz="2400" cap="none" dirty="0">
              <a:solidFill>
                <a:srgbClr val="40619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[380,62,:]) print(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[150,150,:]) print(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[48,350,:]) print(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[372,588,:])</a:t>
            </a:r>
            <a:endParaRPr lang="en-US" sz="2400" cap="none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7522643" y="5682809"/>
            <a:ext cx="202027" cy="202027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">
              <a:solidFill>
                <a:prstClr val="white"/>
              </a:solidFill>
            </a:endParaRP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773722" y="1153550"/>
            <a:ext cx="10823917" cy="1134517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To get the BGR values at a number of pixels:</a:t>
            </a: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2224614" y="4977282"/>
            <a:ext cx="2574384" cy="1621638"/>
          </a:xfrm>
          <a:prstGeom prst="rect">
            <a:avLst/>
          </a:prstGeom>
          <a:ln>
            <a:solidFill>
              <a:schemeClr val="tx2"/>
            </a:solidFill>
          </a:ln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[27 59 42]</a:t>
            </a:r>
          </a:p>
          <a:p>
            <a:r>
              <a:rPr lang="en-US" sz="2400" b="1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  2  54 251]</a:t>
            </a:r>
          </a:p>
          <a:p>
            <a:r>
              <a:rPr lang="en-US" sz="2400" b="1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[251 151 127]</a:t>
            </a:r>
          </a:p>
          <a:p>
            <a:r>
              <a:rPr lang="en-US" sz="2400" b="1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  0 102 184]</a:t>
            </a:r>
          </a:p>
        </p:txBody>
      </p:sp>
      <p:sp>
        <p:nvSpPr>
          <p:cNvPr id="21" name="Title 1"/>
          <p:cNvSpPr txBox="1">
            <a:spLocks/>
          </p:cNvSpPr>
          <p:nvPr/>
        </p:nvSpPr>
        <p:spPr>
          <a:xfrm>
            <a:off x="985609" y="4937607"/>
            <a:ext cx="1448974" cy="484793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000" cap="none" dirty="0">
                <a:solidFill>
                  <a:prstClr val="black"/>
                </a:solidFill>
                <a:cs typeface="Courier New" panose="02070309020205020404" pitchFamily="49" charset="0"/>
              </a:rPr>
              <a:t>Output:</a:t>
            </a:r>
          </a:p>
        </p:txBody>
      </p:sp>
      <p:sp>
        <p:nvSpPr>
          <p:cNvPr id="27" name="Oval 26"/>
          <p:cNvSpPr/>
          <p:nvPr/>
        </p:nvSpPr>
        <p:spPr>
          <a:xfrm>
            <a:off x="9459564" y="3610092"/>
            <a:ext cx="202027" cy="202027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">
              <a:solidFill>
                <a:prstClr val="white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8134350" y="4323633"/>
            <a:ext cx="202027" cy="202027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">
              <a:solidFill>
                <a:prstClr val="white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10889428" y="5666484"/>
            <a:ext cx="202027" cy="202027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">
              <a:solidFill>
                <a:prstClr val="white"/>
              </a:solidFill>
            </a:endParaRPr>
          </a:p>
        </p:txBody>
      </p:sp>
      <p:sp>
        <p:nvSpPr>
          <p:cNvPr id="31" name="Title 1"/>
          <p:cNvSpPr txBox="1">
            <a:spLocks/>
          </p:cNvSpPr>
          <p:nvPr/>
        </p:nvSpPr>
        <p:spPr>
          <a:xfrm>
            <a:off x="7527649" y="5767497"/>
            <a:ext cx="2487408" cy="524279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cap="none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(62,380)</a:t>
            </a:r>
          </a:p>
        </p:txBody>
      </p:sp>
      <p:sp>
        <p:nvSpPr>
          <p:cNvPr id="32" name="Title 1"/>
          <p:cNvSpPr txBox="1">
            <a:spLocks/>
          </p:cNvSpPr>
          <p:nvPr/>
        </p:nvSpPr>
        <p:spPr>
          <a:xfrm>
            <a:off x="7342392" y="4440116"/>
            <a:ext cx="2487408" cy="524279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cap="none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(150,150)</a:t>
            </a:r>
          </a:p>
        </p:txBody>
      </p:sp>
      <p:sp>
        <p:nvSpPr>
          <p:cNvPr id="33" name="Title 1"/>
          <p:cNvSpPr txBox="1">
            <a:spLocks/>
          </p:cNvSpPr>
          <p:nvPr/>
        </p:nvSpPr>
        <p:spPr>
          <a:xfrm>
            <a:off x="8866392" y="3724259"/>
            <a:ext cx="2487408" cy="524279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cap="none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(350,48)</a:t>
            </a:r>
          </a:p>
        </p:txBody>
      </p:sp>
      <p:sp>
        <p:nvSpPr>
          <p:cNvPr id="34" name="Title 1"/>
          <p:cNvSpPr txBox="1">
            <a:spLocks/>
          </p:cNvSpPr>
          <p:nvPr/>
        </p:nvSpPr>
        <p:spPr>
          <a:xfrm>
            <a:off x="9661591" y="5796899"/>
            <a:ext cx="2728529" cy="524279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cap="none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(588,372)</a:t>
            </a:r>
          </a:p>
        </p:txBody>
      </p:sp>
    </p:spTree>
    <p:extLst>
      <p:ext uri="{BB962C8B-B14F-4D97-AF65-F5344CB8AC3E}">
        <p14:creationId xmlns:p14="http://schemas.microsoft.com/office/powerpoint/2010/main" val="3843808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4184" y="3414764"/>
            <a:ext cx="4283034" cy="2810741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>
            <a:off x="7025639" y="3281695"/>
            <a:ext cx="4764506" cy="22979"/>
          </a:xfrm>
          <a:prstGeom prst="straightConnector1">
            <a:avLst/>
          </a:prstGeom>
          <a:ln w="1016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7010399" y="3337843"/>
            <a:ext cx="8024" cy="3269498"/>
          </a:xfrm>
          <a:prstGeom prst="straightConnector1">
            <a:avLst/>
          </a:prstGeom>
          <a:ln w="1016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itle 1"/>
          <p:cNvSpPr txBox="1">
            <a:spLocks/>
          </p:cNvSpPr>
          <p:nvPr/>
        </p:nvSpPr>
        <p:spPr>
          <a:xfrm>
            <a:off x="11514427" y="3201485"/>
            <a:ext cx="553039" cy="61663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7138944" y="6065156"/>
            <a:ext cx="553039" cy="881003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7008194" y="2774250"/>
            <a:ext cx="1028898" cy="61663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23" name="Title 1"/>
          <p:cNvSpPr txBox="1">
            <a:spLocks/>
          </p:cNvSpPr>
          <p:nvPr/>
        </p:nvSpPr>
        <p:spPr>
          <a:xfrm>
            <a:off x="10990442" y="2780919"/>
            <a:ext cx="1028898" cy="61663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619</a:t>
            </a: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6449422" y="3260433"/>
            <a:ext cx="1028898" cy="61663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25" name="Title 1"/>
          <p:cNvSpPr txBox="1">
            <a:spLocks/>
          </p:cNvSpPr>
          <p:nvPr/>
        </p:nvSpPr>
        <p:spPr>
          <a:xfrm>
            <a:off x="6193758" y="5945865"/>
            <a:ext cx="1028898" cy="61663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419</a:t>
            </a:r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548640" y="295425"/>
            <a:ext cx="10508566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Basic Operations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1195136" y="1844842"/>
            <a:ext cx="6248400" cy="1444875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cv2.imread(‘bird.jpg', 1)</a:t>
            </a:r>
          </a:p>
          <a:p>
            <a:endParaRPr lang="en-US" sz="2400" cap="none" dirty="0">
              <a:solidFill>
                <a:srgbClr val="40619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[0,0,:]) </a:t>
            </a:r>
            <a:r>
              <a:rPr lang="en-US" sz="2400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BGR</a:t>
            </a:r>
          </a:p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[0,0,0]) </a:t>
            </a:r>
            <a:r>
              <a:rPr lang="en-US" sz="2400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B</a:t>
            </a:r>
          </a:p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[0,0,1]) </a:t>
            </a:r>
            <a:r>
              <a:rPr lang="en-US" sz="2400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G</a:t>
            </a:r>
          </a:p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[0,0,2]) </a:t>
            </a:r>
            <a:r>
              <a:rPr lang="en-US" sz="2400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</a:t>
            </a:r>
          </a:p>
        </p:txBody>
      </p:sp>
      <p:sp>
        <p:nvSpPr>
          <p:cNvPr id="16" name="Oval 15"/>
          <p:cNvSpPr/>
          <p:nvPr/>
        </p:nvSpPr>
        <p:spPr>
          <a:xfrm>
            <a:off x="7113894" y="3367506"/>
            <a:ext cx="202027" cy="202027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"/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773722" y="1153550"/>
            <a:ext cx="10823917" cy="1134517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To get the BGR values at location (0,0) pixel:</a:t>
            </a: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2224614" y="4992522"/>
            <a:ext cx="2574384" cy="1606398"/>
          </a:xfrm>
          <a:prstGeom prst="rect">
            <a:avLst/>
          </a:prstGeom>
          <a:ln>
            <a:solidFill>
              <a:schemeClr val="tx2"/>
            </a:solidFill>
          </a:ln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[22 143  63]</a:t>
            </a:r>
          </a:p>
          <a:p>
            <a:r>
              <a:rPr lang="en-US" sz="2400" b="1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r>
              <a:rPr lang="en-US" sz="2400" b="1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143</a:t>
            </a:r>
          </a:p>
          <a:p>
            <a:r>
              <a:rPr lang="en-US" sz="2400" b="1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63</a:t>
            </a:r>
          </a:p>
        </p:txBody>
      </p:sp>
      <p:sp>
        <p:nvSpPr>
          <p:cNvPr id="21" name="Title 1"/>
          <p:cNvSpPr txBox="1">
            <a:spLocks/>
          </p:cNvSpPr>
          <p:nvPr/>
        </p:nvSpPr>
        <p:spPr>
          <a:xfrm>
            <a:off x="985609" y="4937607"/>
            <a:ext cx="1448974" cy="484793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000" cap="none" dirty="0">
                <a:solidFill>
                  <a:prstClr val="black"/>
                </a:solidFill>
                <a:cs typeface="Courier New" panose="02070309020205020404" pitchFamily="49" charset="0"/>
              </a:rPr>
              <a:t>Output:</a:t>
            </a:r>
          </a:p>
        </p:txBody>
      </p:sp>
      <p:sp>
        <p:nvSpPr>
          <p:cNvPr id="28" name="Title 1"/>
          <p:cNvSpPr txBox="1">
            <a:spLocks/>
          </p:cNvSpPr>
          <p:nvPr/>
        </p:nvSpPr>
        <p:spPr>
          <a:xfrm>
            <a:off x="7222656" y="3417483"/>
            <a:ext cx="2487408" cy="524279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cap="none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(0,0)</a:t>
            </a:r>
          </a:p>
        </p:txBody>
      </p:sp>
    </p:spTree>
    <p:extLst>
      <p:ext uri="{BB962C8B-B14F-4D97-AF65-F5344CB8AC3E}">
        <p14:creationId xmlns:p14="http://schemas.microsoft.com/office/powerpoint/2010/main" val="39405869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4184" y="3414764"/>
            <a:ext cx="4283034" cy="2810741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>
            <a:off x="7025639" y="3281695"/>
            <a:ext cx="4764506" cy="22979"/>
          </a:xfrm>
          <a:prstGeom prst="straightConnector1">
            <a:avLst/>
          </a:prstGeom>
          <a:ln w="1016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7010399" y="3337843"/>
            <a:ext cx="8024" cy="3269498"/>
          </a:xfrm>
          <a:prstGeom prst="straightConnector1">
            <a:avLst/>
          </a:prstGeom>
          <a:ln w="1016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itle 1"/>
          <p:cNvSpPr txBox="1">
            <a:spLocks/>
          </p:cNvSpPr>
          <p:nvPr/>
        </p:nvSpPr>
        <p:spPr>
          <a:xfrm>
            <a:off x="11514427" y="3201485"/>
            <a:ext cx="553039" cy="61663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7138944" y="6065156"/>
            <a:ext cx="553039" cy="881003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7008194" y="2774250"/>
            <a:ext cx="1028898" cy="61663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23" name="Title 1"/>
          <p:cNvSpPr txBox="1">
            <a:spLocks/>
          </p:cNvSpPr>
          <p:nvPr/>
        </p:nvSpPr>
        <p:spPr>
          <a:xfrm>
            <a:off x="10990442" y="2780919"/>
            <a:ext cx="1028898" cy="61663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619</a:t>
            </a: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6449422" y="3260433"/>
            <a:ext cx="1028898" cy="61663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25" name="Title 1"/>
          <p:cNvSpPr txBox="1">
            <a:spLocks/>
          </p:cNvSpPr>
          <p:nvPr/>
        </p:nvSpPr>
        <p:spPr>
          <a:xfrm>
            <a:off x="6193758" y="5945865"/>
            <a:ext cx="1028898" cy="61663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419</a:t>
            </a:r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548640" y="295425"/>
            <a:ext cx="10508566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Basic Operations</a:t>
            </a:r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773722" y="1153550"/>
            <a:ext cx="10823917" cy="5338689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The</a:t>
            </a:r>
            <a:r>
              <a:rPr lang="en-US" sz="2400" b="1" cap="none" dirty="0">
                <a:solidFill>
                  <a:prstClr val="black"/>
                </a:solidFill>
                <a:cs typeface="Courier New" panose="02070309020205020404" pitchFamily="49" charset="0"/>
              </a:rPr>
              <a:t> shape 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attribute is used to get the dimensions of the array:</a:t>
            </a:r>
            <a:endParaRPr lang="en-US" sz="2400" dirty="0">
              <a:solidFill>
                <a:prstClr val="black"/>
              </a:solidFill>
              <a:cs typeface="Courier New" panose="02070309020205020404" pitchFamily="49" charset="0"/>
            </a:endParaRPr>
          </a:p>
        </p:txBody>
      </p:sp>
      <p:sp>
        <p:nvSpPr>
          <p:cNvPr id="28" name="Title 1"/>
          <p:cNvSpPr txBox="1">
            <a:spLocks/>
          </p:cNvSpPr>
          <p:nvPr/>
        </p:nvSpPr>
        <p:spPr>
          <a:xfrm>
            <a:off x="1192934" y="1843640"/>
            <a:ext cx="6248400" cy="2874969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cv2.imread(‘bird.jpg', 1)</a:t>
            </a:r>
          </a:p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rows = 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img.shape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[0]</a:t>
            </a:r>
          </a:p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cols = 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img.shape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</a:t>
            </a:r>
          </a:p>
          <a:p>
            <a:endParaRPr lang="en-US" sz="2400" cap="none" dirty="0">
              <a:solidFill>
                <a:srgbClr val="40619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img.shape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print(rows)</a:t>
            </a:r>
          </a:p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print(cols)</a:t>
            </a:r>
          </a:p>
        </p:txBody>
      </p:sp>
      <p:sp>
        <p:nvSpPr>
          <p:cNvPr id="29" name="Title 1"/>
          <p:cNvSpPr txBox="1">
            <a:spLocks/>
          </p:cNvSpPr>
          <p:nvPr/>
        </p:nvSpPr>
        <p:spPr>
          <a:xfrm>
            <a:off x="2224614" y="5129682"/>
            <a:ext cx="2574384" cy="1256243"/>
          </a:xfrm>
          <a:prstGeom prst="rect">
            <a:avLst/>
          </a:prstGeom>
          <a:ln>
            <a:solidFill>
              <a:schemeClr val="tx2"/>
            </a:solidFill>
          </a:ln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(420, 620, 3)</a:t>
            </a:r>
          </a:p>
          <a:p>
            <a:r>
              <a:rPr lang="en-US" sz="2400" b="1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420</a:t>
            </a:r>
          </a:p>
          <a:p>
            <a:r>
              <a:rPr lang="en-US" sz="2400" b="1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620</a:t>
            </a: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985609" y="5059527"/>
            <a:ext cx="1448974" cy="484793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000" cap="none" dirty="0">
                <a:solidFill>
                  <a:prstClr val="black"/>
                </a:solidFill>
                <a:cs typeface="Courier New" panose="02070309020205020404" pitchFamily="49" charset="0"/>
              </a:rPr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25464486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10508566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Basic Operations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73722" y="1153551"/>
            <a:ext cx="10823917" cy="5289452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The following code will load an image and display its color channels</a:t>
            </a:r>
            <a:endParaRPr lang="en-US" sz="2400" b="1" dirty="0">
              <a:solidFill>
                <a:prstClr val="black"/>
              </a:solidFill>
              <a:cs typeface="Courier New" panose="02070309020205020404" pitchFamily="49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310640" y="1920240"/>
            <a:ext cx="6248400" cy="4276725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cv2.imread(‘bird.jpg', 1)</a:t>
            </a:r>
          </a:p>
          <a:p>
            <a:endParaRPr lang="en-US" sz="2400" cap="none" dirty="0">
              <a:solidFill>
                <a:srgbClr val="40619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imgB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[:,:,0]</a:t>
            </a:r>
          </a:p>
          <a:p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[:,:,1]</a:t>
            </a:r>
          </a:p>
          <a:p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imgR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[:,:,2]</a:t>
            </a:r>
          </a:p>
          <a:p>
            <a:endParaRPr lang="en-US" sz="2400" cap="none" dirty="0">
              <a:solidFill>
                <a:srgbClr val="40619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cv2.imshow('Original',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cv2.imshow('Blue',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imgB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cv2.imshow('Green',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cv2.imshow('Red',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imgR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cv2.waitKey(0)</a:t>
            </a:r>
          </a:p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cv2.destroyAllWindows()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7080" y="3321996"/>
            <a:ext cx="4480559" cy="302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4845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10508566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Basic Operations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73723" y="1153551"/>
            <a:ext cx="3737318" cy="5289452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The results are shown.</a:t>
            </a: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The more white color indicates large values of the channel color</a:t>
            </a: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Note that the color channels are ordered as BGR (instead of RGB) in OpenCV: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237" y="1168791"/>
            <a:ext cx="7237176" cy="5523702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773722" y="5242561"/>
            <a:ext cx="3493478" cy="1295399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imgB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[:,:,0]</a:t>
            </a:r>
          </a:p>
          <a:p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[:,:,1]</a:t>
            </a:r>
          </a:p>
          <a:p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imgR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[:,:,2]</a:t>
            </a:r>
          </a:p>
          <a:p>
            <a:endParaRPr lang="en-US" sz="2400" cap="none" dirty="0">
              <a:solidFill>
                <a:srgbClr val="40619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39188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4184" y="3414764"/>
            <a:ext cx="4283034" cy="2810741"/>
          </a:xfrm>
          <a:prstGeom prst="rect">
            <a:avLst/>
          </a:prstGeom>
        </p:spPr>
      </p:pic>
      <p:cxnSp>
        <p:nvCxnSpPr>
          <p:cNvPr id="35" name="Straight Connector 34"/>
          <p:cNvCxnSpPr/>
          <p:nvPr/>
        </p:nvCxnSpPr>
        <p:spPr>
          <a:xfrm flipH="1" flipV="1">
            <a:off x="9958107" y="3198320"/>
            <a:ext cx="1" cy="2244232"/>
          </a:xfrm>
          <a:prstGeom prst="line">
            <a:avLst/>
          </a:prstGeom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7025639" y="3296935"/>
            <a:ext cx="4764506" cy="22979"/>
          </a:xfrm>
          <a:prstGeom prst="straightConnector1">
            <a:avLst/>
          </a:prstGeom>
          <a:ln w="1016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7010399" y="3337843"/>
            <a:ext cx="8024" cy="3269498"/>
          </a:xfrm>
          <a:prstGeom prst="straightConnector1">
            <a:avLst/>
          </a:prstGeom>
          <a:ln w="1016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itle 1"/>
          <p:cNvSpPr txBox="1">
            <a:spLocks/>
          </p:cNvSpPr>
          <p:nvPr/>
        </p:nvSpPr>
        <p:spPr>
          <a:xfrm>
            <a:off x="11514427" y="3201485"/>
            <a:ext cx="553039" cy="61663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7138944" y="6065156"/>
            <a:ext cx="553039" cy="881003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</a:p>
        </p:txBody>
      </p:sp>
      <p:sp>
        <p:nvSpPr>
          <p:cNvPr id="23" name="Title 1"/>
          <p:cNvSpPr txBox="1">
            <a:spLocks/>
          </p:cNvSpPr>
          <p:nvPr/>
        </p:nvSpPr>
        <p:spPr>
          <a:xfrm>
            <a:off x="10990442" y="2780919"/>
            <a:ext cx="1028898" cy="61663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619</a:t>
            </a:r>
          </a:p>
        </p:txBody>
      </p:sp>
      <p:sp>
        <p:nvSpPr>
          <p:cNvPr id="25" name="Title 1"/>
          <p:cNvSpPr txBox="1">
            <a:spLocks/>
          </p:cNvSpPr>
          <p:nvPr/>
        </p:nvSpPr>
        <p:spPr>
          <a:xfrm>
            <a:off x="6193758" y="5945865"/>
            <a:ext cx="1028898" cy="61663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419</a:t>
            </a:r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548640" y="295425"/>
            <a:ext cx="10508566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Cropping Images</a:t>
            </a:r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773722" y="1153550"/>
            <a:ext cx="10823917" cy="5338689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Cropping a region of image (ROI) is similar to accessing pixels</a:t>
            </a:r>
          </a:p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A range of pixel values can be taken using a slice operation (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  <a:sym typeface="Wingdings" panose="05000000000000000000" pitchFamily="2" charset="2"/>
              </a:rPr>
              <a:t>:)</a:t>
            </a: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1195135" y="2127152"/>
            <a:ext cx="7730637" cy="1772166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cv2.imread(‘bird.jpg', 1)</a:t>
            </a:r>
          </a:p>
          <a:p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img_crop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[50:250,100:400]</a:t>
            </a:r>
          </a:p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cv2.imshow(‘ROI', 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img_crop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cv2.waitKey(0)</a:t>
            </a:r>
          </a:p>
          <a:p>
            <a:endParaRPr lang="en-US" sz="2400" cap="none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H="1" flipV="1">
            <a:off x="7870227" y="3198320"/>
            <a:ext cx="1" cy="2244232"/>
          </a:xfrm>
          <a:prstGeom prst="line">
            <a:avLst/>
          </a:prstGeom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 flipV="1">
            <a:off x="6831142" y="5112086"/>
            <a:ext cx="3653978" cy="0"/>
          </a:xfrm>
          <a:prstGeom prst="line">
            <a:avLst/>
          </a:prstGeom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H="1" flipV="1">
            <a:off x="6831142" y="3755726"/>
            <a:ext cx="3653978" cy="0"/>
          </a:xfrm>
          <a:prstGeom prst="line">
            <a:avLst/>
          </a:prstGeom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7750101" y="3643910"/>
            <a:ext cx="202027" cy="202027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">
              <a:solidFill>
                <a:prstClr val="white"/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7753974" y="4998186"/>
            <a:ext cx="202027" cy="202027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">
              <a:solidFill>
                <a:prstClr val="white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9837981" y="3659150"/>
            <a:ext cx="202027" cy="202027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">
              <a:solidFill>
                <a:prstClr val="white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9841854" y="5013426"/>
            <a:ext cx="202027" cy="202027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">
              <a:solidFill>
                <a:prstClr val="white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1770" y="3864311"/>
            <a:ext cx="3152775" cy="2495550"/>
          </a:xfrm>
          <a:prstGeom prst="rect">
            <a:avLst/>
          </a:prstGeom>
        </p:spPr>
      </p:pic>
      <p:sp>
        <p:nvSpPr>
          <p:cNvPr id="36" name="Title 1"/>
          <p:cNvSpPr txBox="1">
            <a:spLocks/>
          </p:cNvSpPr>
          <p:nvPr/>
        </p:nvSpPr>
        <p:spPr>
          <a:xfrm>
            <a:off x="7496324" y="2789490"/>
            <a:ext cx="1028898" cy="61663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</a:p>
        </p:txBody>
      </p:sp>
      <p:sp>
        <p:nvSpPr>
          <p:cNvPr id="37" name="Title 1"/>
          <p:cNvSpPr txBox="1">
            <a:spLocks/>
          </p:cNvSpPr>
          <p:nvPr/>
        </p:nvSpPr>
        <p:spPr>
          <a:xfrm>
            <a:off x="9600260" y="2774250"/>
            <a:ext cx="1028898" cy="61663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400</a:t>
            </a:r>
          </a:p>
        </p:txBody>
      </p:sp>
      <p:sp>
        <p:nvSpPr>
          <p:cNvPr id="38" name="Title 1"/>
          <p:cNvSpPr txBox="1">
            <a:spLocks/>
          </p:cNvSpPr>
          <p:nvPr/>
        </p:nvSpPr>
        <p:spPr>
          <a:xfrm>
            <a:off x="6372213" y="3488343"/>
            <a:ext cx="1091564" cy="61663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</a:p>
        </p:txBody>
      </p:sp>
      <p:sp>
        <p:nvSpPr>
          <p:cNvPr id="40" name="Title 1"/>
          <p:cNvSpPr txBox="1">
            <a:spLocks/>
          </p:cNvSpPr>
          <p:nvPr/>
        </p:nvSpPr>
        <p:spPr>
          <a:xfrm>
            <a:off x="6254992" y="4875314"/>
            <a:ext cx="1028898" cy="61663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250</a:t>
            </a:r>
          </a:p>
        </p:txBody>
      </p:sp>
    </p:spTree>
    <p:extLst>
      <p:ext uri="{BB962C8B-B14F-4D97-AF65-F5344CB8AC3E}">
        <p14:creationId xmlns:p14="http://schemas.microsoft.com/office/powerpoint/2010/main" val="6283743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 txBox="1">
            <a:spLocks/>
          </p:cNvSpPr>
          <p:nvPr/>
        </p:nvSpPr>
        <p:spPr>
          <a:xfrm>
            <a:off x="548640" y="295425"/>
            <a:ext cx="10508566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Scaling Images</a:t>
            </a:r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773722" y="1153550"/>
            <a:ext cx="10823917" cy="5338689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The </a:t>
            </a:r>
            <a:r>
              <a:rPr lang="en-US" sz="2400" b="1" cap="none" dirty="0">
                <a:solidFill>
                  <a:prstClr val="black"/>
                </a:solidFill>
                <a:cs typeface="Courier New" panose="02070309020205020404" pitchFamily="49" charset="0"/>
              </a:rPr>
              <a:t>resize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 function is used to change the image size</a:t>
            </a: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r>
              <a:rPr lang="en-US" sz="2400" cap="none" dirty="0" err="1">
                <a:solidFill>
                  <a:prstClr val="black"/>
                </a:solidFill>
                <a:cs typeface="Courier New" panose="02070309020205020404" pitchFamily="49" charset="0"/>
              </a:rPr>
              <a:t>fx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 and </a:t>
            </a:r>
            <a:r>
              <a:rPr lang="en-US" sz="2400" cap="none" dirty="0" err="1">
                <a:solidFill>
                  <a:prstClr val="black"/>
                </a:solidFill>
                <a:cs typeface="Courier New" panose="02070309020205020404" pitchFamily="49" charset="0"/>
              </a:rPr>
              <a:t>fy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 are the scaling</a:t>
            </a:r>
          </a:p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factors</a:t>
            </a: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Scaling factor of 0.5 means</a:t>
            </a:r>
          </a:p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half of original length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8792" y="2878019"/>
            <a:ext cx="6974128" cy="3736140"/>
          </a:xfrm>
          <a:prstGeom prst="rect">
            <a:avLst/>
          </a:prstGeom>
        </p:spPr>
      </p:pic>
      <p:sp>
        <p:nvSpPr>
          <p:cNvPr id="18" name="Title 1"/>
          <p:cNvSpPr txBox="1">
            <a:spLocks/>
          </p:cNvSpPr>
          <p:nvPr/>
        </p:nvSpPr>
        <p:spPr>
          <a:xfrm>
            <a:off x="773722" y="1685192"/>
            <a:ext cx="10401886" cy="4060288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imgResize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cv2.resize(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img,None,fx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=0.5, 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fy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=0.5, interpolation = cv2.INTER_CUBIC)</a:t>
            </a:r>
          </a:p>
          <a:p>
            <a:endParaRPr lang="en-US" sz="2400" cap="none" dirty="0">
              <a:solidFill>
                <a:srgbClr val="40619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cv2.imshow('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', 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cv2.imshow('Img1', 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img_reSize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2400" cap="none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7090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 txBox="1">
            <a:spLocks/>
          </p:cNvSpPr>
          <p:nvPr/>
        </p:nvSpPr>
        <p:spPr>
          <a:xfrm>
            <a:off x="548640" y="295425"/>
            <a:ext cx="10508566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Scaling Images</a:t>
            </a:r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773722" y="1153551"/>
            <a:ext cx="10823917" cy="531642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If the scaling factors </a:t>
            </a:r>
            <a:r>
              <a:rPr lang="en-US" sz="2400" cap="none" dirty="0" err="1">
                <a:solidFill>
                  <a:prstClr val="black"/>
                </a:solidFill>
                <a:cs typeface="Courier New" panose="02070309020205020404" pitchFamily="49" charset="0"/>
              </a:rPr>
              <a:t>fx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 and </a:t>
            </a:r>
            <a:r>
              <a:rPr lang="en-US" sz="2400" cap="none" dirty="0" err="1">
                <a:solidFill>
                  <a:prstClr val="black"/>
                </a:solidFill>
                <a:cs typeface="Courier New" panose="02070309020205020404" pitchFamily="49" charset="0"/>
              </a:rPr>
              <a:t>fy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 are not equal, the image gets stretched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409" y="2094030"/>
            <a:ext cx="8467725" cy="4552950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773722" y="1685192"/>
            <a:ext cx="10401886" cy="4060288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img_resized1 = cv2.resize(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img,None,fx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=1,</a:t>
            </a:r>
          </a:p>
          <a:p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fy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=0.4, interpolation = cv2.INTER_CUBIC)</a:t>
            </a:r>
          </a:p>
          <a:p>
            <a:endParaRPr lang="en-US" sz="2400" cap="none" dirty="0">
              <a:solidFill>
                <a:srgbClr val="40619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img_resized2 = cv2.resize(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img,None,fx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=0.3,</a:t>
            </a:r>
          </a:p>
          <a:p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fy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=1, interpolation = cv2.INTER_CUBIC)</a:t>
            </a:r>
            <a:endParaRPr lang="en-US" sz="2400" cap="none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1010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 txBox="1">
            <a:spLocks/>
          </p:cNvSpPr>
          <p:nvPr/>
        </p:nvSpPr>
        <p:spPr>
          <a:xfrm>
            <a:off x="548640" y="295425"/>
            <a:ext cx="10508566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Rotating Images</a:t>
            </a:r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773723" y="1153550"/>
            <a:ext cx="5992838" cy="245188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To rotate the image, 2 functions are used: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cap="none" dirty="0">
                <a:solidFill>
                  <a:prstClr val="black"/>
                </a:solidFill>
                <a:cs typeface="Courier New" panose="02070309020205020404" pitchFamily="49" charset="0"/>
              </a:rPr>
              <a:t>getRotationMatrix2D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 to compute the transformation matrix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cap="none" dirty="0" err="1">
                <a:solidFill>
                  <a:prstClr val="black"/>
                </a:solidFill>
                <a:cs typeface="Courier New" panose="02070309020205020404" pitchFamily="49" charset="0"/>
              </a:rPr>
              <a:t>warpAffine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 to apply the rotation transformation to the image matrix</a:t>
            </a:r>
            <a:endParaRPr lang="en-US" sz="2400" b="1" cap="none" dirty="0">
              <a:solidFill>
                <a:prstClr val="black"/>
              </a:solidFill>
              <a:cs typeface="Courier New" panose="020703090202050204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773722" y="3605432"/>
            <a:ext cx="10401886" cy="3176368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cv2.imread(‘bird.jpg', 1)</a:t>
            </a:r>
          </a:p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rows = 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img.shape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[0] </a:t>
            </a:r>
          </a:p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cols = 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img.shape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</a:t>
            </a:r>
          </a:p>
          <a:p>
            <a:endParaRPr lang="en-US" sz="2400" cap="none" dirty="0">
              <a:solidFill>
                <a:srgbClr val="40619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 = cv2.getRotationMatrix2D((cols/2,rows/2),30, 1)</a:t>
            </a:r>
          </a:p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rot = cv2.warpAffine(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img,M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,(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cols,rows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endParaRPr lang="en-US" sz="2400" cap="none" dirty="0">
              <a:solidFill>
                <a:srgbClr val="40619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cv2.imshow(‘Rotate', rot)</a:t>
            </a:r>
            <a:endParaRPr lang="en-US" sz="2400" cap="none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3413" y="1352850"/>
            <a:ext cx="4967641" cy="3522780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7419833" y="853440"/>
            <a:ext cx="4114800" cy="499410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cap="non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Rotated at 30 degrees</a:t>
            </a:r>
          </a:p>
        </p:txBody>
      </p:sp>
    </p:spTree>
    <p:extLst>
      <p:ext uri="{BB962C8B-B14F-4D97-AF65-F5344CB8AC3E}">
        <p14:creationId xmlns:p14="http://schemas.microsoft.com/office/powerpoint/2010/main" val="29689282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 txBox="1">
            <a:spLocks/>
          </p:cNvSpPr>
          <p:nvPr/>
        </p:nvSpPr>
        <p:spPr>
          <a:xfrm>
            <a:off x="548640" y="295425"/>
            <a:ext cx="10508566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Rotating Images</a:t>
            </a:r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773722" y="1153551"/>
            <a:ext cx="10884877" cy="1985890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The </a:t>
            </a:r>
            <a:r>
              <a:rPr lang="en-US" sz="2400" b="1" cap="none" dirty="0">
                <a:solidFill>
                  <a:prstClr val="black"/>
                </a:solidFill>
                <a:cs typeface="Courier New" panose="02070309020205020404" pitchFamily="49" charset="0"/>
              </a:rPr>
              <a:t>getRotationMatrix2D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 takes the following inputs: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Center of rotation (cx, cy)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Angle of rotation 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Scale factor k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962442" y="2980592"/>
            <a:ext cx="10401886" cy="3176368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 = cv2.getRotationMatrix2D((cx, cy), A, k)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180" y="3789246"/>
            <a:ext cx="3628433" cy="260193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89246"/>
            <a:ext cx="3669109" cy="260193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5191" y="3797390"/>
            <a:ext cx="3588649" cy="255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25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10508566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Placing Shapes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758482" y="1706880"/>
            <a:ext cx="11079480" cy="4373880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img1 = cv2.line(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,(x1,y1),(x2,y2),(B,G,R),t)</a:t>
            </a:r>
          </a:p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img2 = cv2.rectangle(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,(x1,y1),(x2,y2),(B,G,R),t)</a:t>
            </a:r>
          </a:p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img3 = cv2.circle(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,(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xc,yc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radius, (B,G,R), t)</a:t>
            </a:r>
          </a:p>
          <a:p>
            <a:endParaRPr lang="en-US" sz="2400" cap="none" dirty="0">
              <a:solidFill>
                <a:srgbClr val="40619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cap="none" dirty="0">
              <a:solidFill>
                <a:srgbClr val="40619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cap="none" dirty="0">
              <a:solidFill>
                <a:srgbClr val="40619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cap="none" dirty="0">
              <a:solidFill>
                <a:srgbClr val="40619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cap="none" dirty="0">
              <a:solidFill>
                <a:srgbClr val="40619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cap="none" dirty="0">
              <a:solidFill>
                <a:srgbClr val="40619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cap="none" dirty="0">
              <a:solidFill>
                <a:srgbClr val="40619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cap="none" dirty="0">
              <a:solidFill>
                <a:srgbClr val="40619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cv2.putText(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,'Hello', (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cv2.FONT_HERSHEY_SIMPLEX, size, (B,G,R), thickness, cv2.LINE_AA)</a:t>
            </a:r>
          </a:p>
          <a:p>
            <a:endParaRPr lang="en-US" sz="2400" cap="none" dirty="0">
              <a:solidFill>
                <a:srgbClr val="40619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cap="none" dirty="0">
              <a:solidFill>
                <a:srgbClr val="40619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773722" y="1153550"/>
            <a:ext cx="10823917" cy="5155810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Various shapes can be placed in the image:</a:t>
            </a: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	(x1,y1)		start point</a:t>
            </a:r>
          </a:p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	(x2,y2)		end point</a:t>
            </a:r>
          </a:p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	(</a:t>
            </a:r>
            <a:r>
              <a:rPr lang="en-US" sz="2400" cap="none" dirty="0" err="1">
                <a:solidFill>
                  <a:prstClr val="black"/>
                </a:solidFill>
                <a:cs typeface="Courier New" panose="02070309020205020404" pitchFamily="49" charset="0"/>
              </a:rPr>
              <a:t>xc,yc</a:t>
            </a: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)		center point</a:t>
            </a:r>
          </a:p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	(B,G,R)		color values from 0 to 255</a:t>
            </a:r>
          </a:p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	thickness		line thickness (-1 for solid color)</a:t>
            </a:r>
          </a:p>
          <a:p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Text can also be placed in the image: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2523" y="3108960"/>
            <a:ext cx="3637426" cy="237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3259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10508566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Placing Shapes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758482" y="1706880"/>
            <a:ext cx="11079480" cy="4373880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cv2.line(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,(50,50),(600,400),(255,255,0),5)</a:t>
            </a:r>
          </a:p>
          <a:p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cv2.rectangle(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,(400,50),(550,200),(0,255,255),5)</a:t>
            </a:r>
          </a:p>
          <a:p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cv2.circle(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,(80,200), 30, (255,0,255), 5)</a:t>
            </a:r>
          </a:p>
          <a:p>
            <a:endParaRPr lang="en-US" sz="2400" cap="none" dirty="0">
              <a:solidFill>
                <a:srgbClr val="40619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font = cv2.FONT_HERSHEY_SIMPLEX</a:t>
            </a:r>
          </a:p>
          <a:p>
            <a:endParaRPr lang="en-US" sz="2400" cap="none" dirty="0">
              <a:solidFill>
                <a:srgbClr val="40619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cv2.putText(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,'Hello',</a:t>
            </a:r>
          </a:p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(50,350), font, 3, </a:t>
            </a:r>
          </a:p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(255,255,255), 5, cv2.LINE_AA)</a:t>
            </a:r>
          </a:p>
          <a:p>
            <a:endParaRPr lang="en-US" sz="2400" cap="none" dirty="0">
              <a:solidFill>
                <a:srgbClr val="40619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cv2.imshow(‘Shapes', </a:t>
            </a:r>
            <a:r>
              <a:rPr lang="en-US" sz="2400" cap="none" dirty="0" err="1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cap="none" dirty="0">
                <a:solidFill>
                  <a:srgbClr val="40619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3049" y="3238500"/>
            <a:ext cx="4908194" cy="3208020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773722" y="1153551"/>
            <a:ext cx="10823917" cy="531642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The following example places some shapes and text in the image</a:t>
            </a:r>
          </a:p>
        </p:txBody>
      </p:sp>
    </p:spTree>
    <p:extLst>
      <p:ext uri="{BB962C8B-B14F-4D97-AF65-F5344CB8AC3E}">
        <p14:creationId xmlns:p14="http://schemas.microsoft.com/office/powerpoint/2010/main" val="22604566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1"/>
            <a:ext cx="12192000" cy="1252025"/>
          </a:xfrm>
          <a:prstGeom prst="rect">
            <a:avLst/>
          </a:prstGeom>
          <a:solidFill>
            <a:srgbClr val="2A3E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"/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548640" y="267289"/>
            <a:ext cx="7512148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chemeClr val="bg1"/>
                </a:solidFill>
              </a:rPr>
              <a:t>Lab Tasks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4745B62-F9F6-45FA-3269-784092BDEEE1}"/>
              </a:ext>
            </a:extLst>
          </p:cNvPr>
          <p:cNvSpPr txBox="1">
            <a:spLocks/>
          </p:cNvSpPr>
          <p:nvPr/>
        </p:nvSpPr>
        <p:spPr>
          <a:xfrm>
            <a:off x="581192" y="1571737"/>
            <a:ext cx="11029615" cy="3838463"/>
          </a:xfrm>
          <a:prstGeom prst="rect">
            <a:avLst/>
          </a:prstGeom>
        </p:spPr>
        <p:txBody>
          <a:bodyPr anchor="t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C68B1"/>
              </a:buClr>
            </a:pPr>
            <a:r>
              <a:rPr lang="en-US" sz="2800" dirty="0">
                <a:latin typeface="+mj-lt"/>
              </a:rPr>
              <a:t>Download the Lab Material</a:t>
            </a:r>
          </a:p>
          <a:p>
            <a:pPr>
              <a:buClr>
                <a:srgbClr val="2C68B1"/>
              </a:buClr>
            </a:pPr>
            <a:r>
              <a:rPr lang="en-US" sz="2800" dirty="0">
                <a:latin typeface="+mj-lt"/>
              </a:rPr>
              <a:t>Perform the Lab Tasks given in the manual</a:t>
            </a:r>
          </a:p>
          <a:p>
            <a:pPr>
              <a:buClr>
                <a:srgbClr val="2C68B1"/>
              </a:buClr>
            </a:pPr>
            <a:r>
              <a:rPr lang="en-US" sz="2800" dirty="0">
                <a:latin typeface="+mj-lt"/>
              </a:rPr>
              <a:t>Submit the saved manual in PDF form</a:t>
            </a:r>
          </a:p>
          <a:p>
            <a:pPr>
              <a:buClr>
                <a:srgbClr val="2C68B1"/>
              </a:buClr>
            </a:pPr>
            <a:r>
              <a:rPr lang="en-US" sz="2800" dirty="0">
                <a:latin typeface="+mj-lt"/>
              </a:rPr>
              <a:t>Remember to delete your manual after completing the lab session</a:t>
            </a:r>
          </a:p>
          <a:p>
            <a:pPr marL="0" indent="0" algn="ctr">
              <a:lnSpc>
                <a:spcPct val="150000"/>
              </a:lnSpc>
              <a:buClr>
                <a:srgbClr val="2C68B1"/>
              </a:buClr>
              <a:buNone/>
            </a:pPr>
            <a:endParaRPr lang="en-US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098601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1_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6517</TotalTime>
  <Words>1990</Words>
  <Application>Microsoft Office PowerPoint</Application>
  <PresentationFormat>Widescreen</PresentationFormat>
  <Paragraphs>343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Cambria Math</vt:lpstr>
      <vt:lpstr>Courier New</vt:lpstr>
      <vt:lpstr>Gill Sans MT</vt:lpstr>
      <vt:lpstr>Wingdings 2</vt:lpstr>
      <vt:lpstr>Dividend</vt:lpstr>
      <vt:lpstr>1_Dividend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Munadi Sial</dc:creator>
  <cp:lastModifiedBy>Irfa Farooq</cp:lastModifiedBy>
  <cp:revision>1060</cp:revision>
  <dcterms:created xsi:type="dcterms:W3CDTF">2022-08-25T07:12:22Z</dcterms:created>
  <dcterms:modified xsi:type="dcterms:W3CDTF">2025-09-26T14:57:53Z</dcterms:modified>
</cp:coreProperties>
</file>