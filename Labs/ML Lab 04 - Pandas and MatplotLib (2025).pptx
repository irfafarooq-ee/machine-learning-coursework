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  <p:sldMasterId id="2147483672" r:id="rId3"/>
  </p:sldMasterIdLst>
  <p:sldIdLst>
    <p:sldId id="256" r:id="rId4"/>
    <p:sldId id="282" r:id="rId5"/>
    <p:sldId id="284" r:id="rId6"/>
    <p:sldId id="259" r:id="rId7"/>
    <p:sldId id="285" r:id="rId8"/>
    <p:sldId id="286" r:id="rId9"/>
    <p:sldId id="288" r:id="rId10"/>
    <p:sldId id="287" r:id="rId11"/>
    <p:sldId id="289" r:id="rId12"/>
    <p:sldId id="290" r:id="rId13"/>
    <p:sldId id="291" r:id="rId14"/>
    <p:sldId id="293" r:id="rId15"/>
    <p:sldId id="294" r:id="rId16"/>
    <p:sldId id="28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E61"/>
    <a:srgbClr val="4D14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695" autoAdjust="0"/>
    <p:restoredTop sz="94660"/>
  </p:normalViewPr>
  <p:slideViewPr>
    <p:cSldViewPr snapToGrid="0">
      <p:cViewPr>
        <p:scale>
          <a:sx n="35" d="100"/>
          <a:sy n="35" d="100"/>
        </p:scale>
        <p:origin x="216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rfa Farooq" userId="56de11ae-d2f0-4742-9a01-6df3335647b4" providerId="ADAL" clId="{C8713143-C122-4088-8C93-4739C179B426}"/>
    <pc:docChg chg="modSld">
      <pc:chgData name="Irfa Farooq" userId="56de11ae-d2f0-4742-9a01-6df3335647b4" providerId="ADAL" clId="{C8713143-C122-4088-8C93-4739C179B426}" dt="2025-10-08T14:01:40.522" v="0" actId="1037"/>
      <pc:docMkLst>
        <pc:docMk/>
      </pc:docMkLst>
      <pc:sldChg chg="modSp mod">
        <pc:chgData name="Irfa Farooq" userId="56de11ae-d2f0-4742-9a01-6df3335647b4" providerId="ADAL" clId="{C8713143-C122-4088-8C93-4739C179B426}" dt="2025-10-08T14:01:40.522" v="0" actId="1037"/>
        <pc:sldMkLst>
          <pc:docMk/>
          <pc:sldMk cId="3483100910" sldId="289"/>
        </pc:sldMkLst>
        <pc:spChg chg="mod">
          <ac:chgData name="Irfa Farooq" userId="56de11ae-d2f0-4742-9a01-6df3335647b4" providerId="ADAL" clId="{C8713143-C122-4088-8C93-4739C179B426}" dt="2025-10-08T14:01:40.522" v="0" actId="1037"/>
          <ac:spMkLst>
            <pc:docMk/>
            <pc:sldMk cId="3483100910" sldId="28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10/8/2025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783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10/8/2025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282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10/8/2025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646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10/8/2025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770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10/8/2025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6669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10/8/2025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6266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10/8/2025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6435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10/8/2025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986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10/8/2025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0118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10/8/2025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2210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10/8/2025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5741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10/8/2025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3491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10/8/2025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6673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10/8/2025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7157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10/8/2025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1080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10/8/2025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0623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10/8/2025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14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10/8/2025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4260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10/8/2025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3330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10/8/2025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25830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10/8/2025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7132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10/8/2025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>
                <a:solidFill>
                  <a:srgbClr val="4D1434">
                    <a:lumMod val="75000"/>
                    <a:lumOff val="25000"/>
                  </a:srgbClr>
                </a:solidFill>
              </a:rPr>
              <a:pPr/>
              <a:t>‹#›</a:t>
            </a:fld>
            <a:endParaRPr lang="en-US" dirty="0">
              <a:solidFill>
                <a:srgbClr val="4D1434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382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10/8/2025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23737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>
                <a:solidFill>
                  <a:srgbClr val="903163"/>
                </a:solidFill>
              </a:rPr>
              <a:pPr/>
              <a:t>10/8/2025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>
                <a:solidFill>
                  <a:srgbClr val="903163"/>
                </a:solidFill>
              </a:rPr>
              <a:pPr/>
              <a:t>‹#›</a:t>
            </a:fld>
            <a:endParaRPr lang="en-US" dirty="0">
              <a:solidFill>
                <a:srgbClr val="903163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7751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8733" y="2989389"/>
            <a:ext cx="11409162" cy="384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Subtitle 2"/>
          <p:cNvSpPr txBox="1">
            <a:spLocks/>
          </p:cNvSpPr>
          <p:nvPr/>
        </p:nvSpPr>
        <p:spPr>
          <a:xfrm>
            <a:off x="596434" y="6169591"/>
            <a:ext cx="10993546" cy="6579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000" b="1" cap="none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School of Electrical Engineering and Computer Science (SEECS),  NUST,  Pakistan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246" y="645379"/>
            <a:ext cx="2526886" cy="2526886"/>
          </a:xfrm>
          <a:prstGeom prst="rect">
            <a:avLst/>
          </a:prstGeom>
        </p:spPr>
      </p:pic>
      <p:sp>
        <p:nvSpPr>
          <p:cNvPr id="26" name="Title 1"/>
          <p:cNvSpPr txBox="1">
            <a:spLocks/>
          </p:cNvSpPr>
          <p:nvPr/>
        </p:nvSpPr>
        <p:spPr>
          <a:xfrm>
            <a:off x="825305" y="3197135"/>
            <a:ext cx="4600136" cy="704306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4400" dirty="0">
              <a:solidFill>
                <a:schemeClr val="bg1"/>
              </a:solidFill>
            </a:endParaRPr>
          </a:p>
        </p:txBody>
      </p:sp>
      <p:pic>
        <p:nvPicPr>
          <p:cNvPr id="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8626" y="92762"/>
            <a:ext cx="11409162" cy="611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itle 1"/>
          <p:cNvSpPr txBox="1">
            <a:spLocks/>
          </p:cNvSpPr>
          <p:nvPr/>
        </p:nvSpPr>
        <p:spPr>
          <a:xfrm>
            <a:off x="789864" y="907364"/>
            <a:ext cx="8662730" cy="886265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b="1" cap="none" dirty="0">
                <a:solidFill>
                  <a:srgbClr val="2A3E61"/>
                </a:solidFill>
              </a:rPr>
              <a:t>MACHINE LEARNING LAB</a:t>
            </a: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825304" y="1779559"/>
            <a:ext cx="8662730" cy="928467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b="1" cap="none" dirty="0">
                <a:solidFill>
                  <a:srgbClr val="2C68B1"/>
                </a:solidFill>
              </a:rPr>
              <a:t>Pandas and MatplotLib</a:t>
            </a:r>
          </a:p>
        </p:txBody>
      </p:sp>
    </p:spTree>
    <p:extLst>
      <p:ext uri="{BB962C8B-B14F-4D97-AF65-F5344CB8AC3E}">
        <p14:creationId xmlns:p14="http://schemas.microsoft.com/office/powerpoint/2010/main" val="401567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Pandas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4840" y="2758440"/>
            <a:ext cx="11277600" cy="376428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pandas as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 = [10, 2, 7]</a:t>
            </a:r>
          </a:p>
          <a:p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serB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pd.Series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</a:t>
            </a: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serB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serB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[0])</a:t>
            </a:r>
          </a:p>
          <a:p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serC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pd.Series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(B, index = ["X", "Y", "Z"])</a:t>
            </a: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serC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serC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["Z"])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1"/>
            <a:ext cx="10649243" cy="53809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Pandas (Panel Data) is a library used for loading, handling and cleaning datasets before feeding to a machine learning algorithm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Two data types: Series (column), Dataframe (table)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A simple column can be created using the Series type</a:t>
            </a:r>
          </a:p>
        </p:txBody>
      </p:sp>
    </p:spTree>
    <p:extLst>
      <p:ext uri="{BB962C8B-B14F-4D97-AF65-F5344CB8AC3E}">
        <p14:creationId xmlns:p14="http://schemas.microsoft.com/office/powerpoint/2010/main" val="170528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Pandas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4840" y="1691640"/>
            <a:ext cx="11277600" cy="368808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pandas as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 = {"Burger": 420, "Sandwich": 320, "Milkshake": 200}</a:t>
            </a:r>
          </a:p>
          <a:p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serD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pd.Series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(D)</a:t>
            </a: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serD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1"/>
            <a:ext cx="10649243" cy="53809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Dictionaries can also be used to define Pandas series</a:t>
            </a:r>
          </a:p>
        </p:txBody>
      </p:sp>
    </p:spTree>
    <p:extLst>
      <p:ext uri="{BB962C8B-B14F-4D97-AF65-F5344CB8AC3E}">
        <p14:creationId xmlns:p14="http://schemas.microsoft.com/office/powerpoint/2010/main" val="582195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Pandas Dataframe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4840" y="1630679"/>
            <a:ext cx="11277600" cy="447704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pandas as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</a:t>
            </a:r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datasetA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'Company': ["Suzuki", "Toyota", "Ford", "Ford", "Suzuki"],</a:t>
            </a: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'Number': [9553, 4314, 2192, 8317, 2555],</a:t>
            </a: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'Color': ["White", "Black", "Black", "Red", "White"]}</a:t>
            </a:r>
          </a:p>
          <a:p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dataframeA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datasetA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dataframeA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dataframeA.loc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[0]) # print row 0</a:t>
            </a: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dataframeA.loc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[[0, 1, 4]]) # print rows 0, 1, 4</a:t>
            </a: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df.loc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[0].at["x2"]) # print item in row 0, column x2</a:t>
            </a:r>
          </a:p>
          <a:p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66584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Datasets can be stored in the Data Frame type in pandas</a:t>
            </a:r>
          </a:p>
        </p:txBody>
      </p:sp>
    </p:spTree>
    <p:extLst>
      <p:ext uri="{BB962C8B-B14F-4D97-AF65-F5344CB8AC3E}">
        <p14:creationId xmlns:p14="http://schemas.microsoft.com/office/powerpoint/2010/main" val="2112981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Pandas Dataframe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4840" y="1630680"/>
            <a:ext cx="11277600" cy="301752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66584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Serial numbers in a dataframe can be changed to descriptive names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24840" y="1630680"/>
            <a:ext cx="11277600" cy="422148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df2 =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pd.DataFrame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datasetA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index = ["day1","day2","day3"])</a:t>
            </a: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print(df2)</a:t>
            </a: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print(df2.loc["day2"])</a:t>
            </a:r>
          </a:p>
        </p:txBody>
      </p:sp>
    </p:spTree>
    <p:extLst>
      <p:ext uri="{BB962C8B-B14F-4D97-AF65-F5344CB8AC3E}">
        <p14:creationId xmlns:p14="http://schemas.microsoft.com/office/powerpoint/2010/main" val="3002835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rgbClr val="2A3E61"/>
                </a:solidFill>
              </a:rPr>
              <a:t>CSV Dataframe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4840" y="1630680"/>
            <a:ext cx="11277600" cy="301752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1"/>
            <a:ext cx="10649243" cy="123913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CSV tables can be loaded from disk into a dataframe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24840" y="1630680"/>
            <a:ext cx="11277600" cy="422148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df3 =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(‘D:\\ML\\Lab4\\mydataset.csv')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48640" y="2189871"/>
            <a:ext cx="10649243" cy="398232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The loaded dataset can be displayed: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To get the number of training examples in the dataset: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24840" y="2667000"/>
            <a:ext cx="11277600" cy="350520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print(df3) </a:t>
            </a:r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display first and last 5 rows</a:t>
            </a: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print(df3.head()) </a:t>
            </a:r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display first 5 rows</a:t>
            </a: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print(df3.tail()) </a:t>
            </a:r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display last 5 rows</a:t>
            </a: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print(df3.to_string()) </a:t>
            </a:r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print entire table</a:t>
            </a: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print(df3.info()) </a:t>
            </a:r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print table info</a:t>
            </a: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x1 = df3[‘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’].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values.tolist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get column in list</a:t>
            </a:r>
          </a:p>
          <a:p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 =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(df3[‘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column_name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’].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values.tolist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660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cap="none" dirty="0">
                <a:solidFill>
                  <a:srgbClr val="2A3E61"/>
                </a:solidFill>
                <a:latin typeface="Gill Sans MT" panose="020B0502020104020203"/>
              </a:rPr>
              <a:t>Column Averages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2A3E61"/>
              </a:solidFill>
              <a:effectLst/>
              <a:uLnTx/>
              <a:uFillTx/>
              <a:latin typeface="Gill Sans MT" panose="020B0502020104020203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4840" y="1630680"/>
            <a:ext cx="11277600" cy="301752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619D"/>
              </a:solidFill>
              <a:effectLst/>
              <a:uLnTx/>
              <a:uFillTx/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1"/>
            <a:ext cx="10649243" cy="123913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cap="none" dirty="0">
                <a:solidFill>
                  <a:prstClr val="black"/>
                </a:solidFill>
                <a:latin typeface="Gill Sans MT" panose="020B0502020104020203"/>
                <a:cs typeface="Courier New" panose="02070309020205020404" pitchFamily="49" charset="0"/>
              </a:rPr>
              <a:t>At times, it is useful to calculate the average (mean, mode or median) of a specific column in the dataset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48640" y="2189871"/>
            <a:ext cx="10649243" cy="398232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j-ea"/>
                <a:cs typeface="Courier New" panose="02070309020205020404" pitchFamily="49" charset="0"/>
              </a:rPr>
              <a:t>To calculate mean of a column in a dataset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cap="none" dirty="0">
              <a:solidFill>
                <a:prstClr val="black"/>
              </a:solidFill>
              <a:latin typeface="Gill Sans MT" panose="020B0502020104020203"/>
              <a:cs typeface="Courier New" panose="02070309020205020404" pitchFamily="49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j-ea"/>
              <a:cs typeface="Courier New" panose="02070309020205020404" pitchFamily="49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cap="none" dirty="0">
                <a:solidFill>
                  <a:prstClr val="black"/>
                </a:solidFill>
                <a:latin typeface="Gill Sans MT" panose="020B0502020104020203"/>
                <a:cs typeface="Courier New" panose="02070309020205020404" pitchFamily="49" charset="0"/>
              </a:rPr>
              <a:t>To calculate mean of a column from a range of rows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j-ea"/>
              <a:cs typeface="Courier New" panose="02070309020205020404" pitchFamily="49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j-ea"/>
              <a:cs typeface="Courier New" panose="02070309020205020404" pitchFamily="49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j-ea"/>
              <a:cs typeface="Courier New" panose="02070309020205020404" pitchFamily="49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To calculate mode of a column in a dataset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j-ea"/>
              <a:cs typeface="Courier New" panose="02070309020205020404" pitchFamily="49" charset="0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j-ea"/>
              <a:cs typeface="Courier New" panose="02070309020205020404" pitchFamily="49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  <a:defRPr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To calculate median of a column in a dataset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j-ea"/>
              <a:cs typeface="Courier New" panose="02070309020205020404" pitchFamily="49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j-ea"/>
              <a:cs typeface="Courier New" panose="02070309020205020404" pitchFamily="49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j-ea"/>
              <a:cs typeface="Courier New" panose="02070309020205020404" pitchFamily="49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24840" y="2667000"/>
            <a:ext cx="11277600" cy="350520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[“x1"].mean()</a:t>
            </a:r>
          </a:p>
          <a:p>
            <a:pPr lvl="0">
              <a:defRPr/>
            </a:pPr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defRPr/>
            </a:pPr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defRPr/>
            </a:pP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[“x1"][10:75].mean()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619D"/>
              </a:solidFill>
              <a:effectLst/>
              <a:uLnTx/>
              <a:uFillTx/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619D"/>
              </a:solidFill>
              <a:effectLst/>
              <a:uLnTx/>
              <a:uFillTx/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619D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x =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40619D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df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619D"/>
                </a:solidFill>
                <a:effectLst/>
                <a:uLnTx/>
                <a:uFillTx/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[“x1"].mode()[0]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619D"/>
              </a:solidFill>
              <a:effectLst/>
              <a:uLnTx/>
              <a:uFillTx/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619D"/>
              </a:solidFill>
              <a:effectLst/>
              <a:uLnTx/>
              <a:uFillTx/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lvl="0">
              <a:defRPr/>
            </a:pP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[“x1"].median()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619D"/>
              </a:solidFill>
              <a:effectLst/>
              <a:uLnTx/>
              <a:uFillTx/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216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2A3E6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Dataset Cleaning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4840" y="1630680"/>
            <a:ext cx="11277600" cy="301752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619D"/>
              </a:solidFill>
              <a:effectLst/>
              <a:uLnTx/>
              <a:uFillTx/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1"/>
            <a:ext cx="10649243" cy="123913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j-ea"/>
                <a:cs typeface="Courier New" panose="02070309020205020404" pitchFamily="49" charset="0"/>
              </a:rPr>
              <a:t>Datasets need to be cleaned of rows with empty cells, duplicated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j-ea"/>
                <a:cs typeface="Courier New" panose="02070309020205020404" pitchFamily="49" charset="0"/>
              </a:rPr>
              <a:t> rows, data in wrong format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48640" y="2189871"/>
            <a:ext cx="10649243" cy="398232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j-ea"/>
                <a:cs typeface="Courier New" panose="02070309020205020404" pitchFamily="49" charset="0"/>
              </a:rPr>
              <a:t>To remove rows with empty cells 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j-ea"/>
                <a:cs typeface="Courier New" panose="02070309020205020404" pitchFamily="49" charset="0"/>
              </a:rPr>
              <a:t>in the dataset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cap="none" baseline="0" dirty="0">
              <a:solidFill>
                <a:prstClr val="black"/>
              </a:solidFill>
              <a:latin typeface="Gill Sans MT" panose="020B0502020104020203"/>
              <a:cs typeface="Courier New" panose="02070309020205020404" pitchFamily="49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j-ea"/>
              <a:cs typeface="Courier New" panose="02070309020205020404" pitchFamily="49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To replace empty cells with average value in the column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latin typeface="Gill Sans MT" panose="020B0502020104020203"/>
              <a:cs typeface="Courier New" panose="02070309020205020404" pitchFamily="49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latin typeface="Gill Sans MT" panose="020B0502020104020203"/>
              <a:cs typeface="Courier New" panose="02070309020205020404" pitchFamily="49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cap="none" dirty="0">
              <a:solidFill>
                <a:prstClr val="black"/>
              </a:solidFill>
              <a:latin typeface="Gill Sans MT" panose="020B0502020104020203"/>
              <a:cs typeface="Courier New" panose="02070309020205020404" pitchFamily="49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To remove duplicated rows from the dataset</a:t>
            </a:r>
            <a:endParaRPr lang="en-US" sz="2400" cap="none" dirty="0">
              <a:solidFill>
                <a:prstClr val="black"/>
              </a:solidFill>
              <a:latin typeface="Gill Sans MT" panose="020B0502020104020203"/>
              <a:cs typeface="Courier New" panose="02070309020205020404" pitchFamily="49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j-ea"/>
              <a:cs typeface="Courier New" panose="02070309020205020404" pitchFamily="49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cap="none" dirty="0">
              <a:solidFill>
                <a:prstClr val="black"/>
              </a:solidFill>
              <a:latin typeface="Gill Sans MT" panose="020B0502020104020203"/>
              <a:cs typeface="Courier New" panose="02070309020205020404" pitchFamily="49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400" cap="none" dirty="0">
              <a:solidFill>
                <a:prstClr val="black"/>
              </a:solidFill>
              <a:latin typeface="Gill Sans MT" panose="020B0502020104020203"/>
              <a:cs typeface="Courier New" panose="02070309020205020404" pitchFamily="49" charset="0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24840" y="2667000"/>
            <a:ext cx="11277600" cy="350520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df.dropna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True) </a:t>
            </a:r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remove rows with empty cells</a:t>
            </a:r>
          </a:p>
          <a:p>
            <a:pPr lvl="0"/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[“x1"].mean()</a:t>
            </a:r>
          </a:p>
          <a:p>
            <a:pPr lvl="0"/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[“x1"].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fillna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(x,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True)</a:t>
            </a:r>
          </a:p>
          <a:p>
            <a:pPr lvl="0"/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df.drop_duplicates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inplace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True) </a:t>
            </a:r>
            <a:r>
              <a:rPr lang="en-US" sz="2400" b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remove duplicate rows</a:t>
            </a:r>
          </a:p>
          <a:p>
            <a:pPr lvl="0"/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187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2A3E61"/>
                </a:solidFill>
                <a:effectLst/>
                <a:uLnTx/>
                <a:uFillTx/>
                <a:latin typeface="Gill Sans MT" panose="020B0502020104020203"/>
                <a:ea typeface="+mj-ea"/>
                <a:cs typeface="+mj-cs"/>
              </a:rPr>
              <a:t>Plotting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4840" y="1630680"/>
            <a:ext cx="11277600" cy="301752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619D"/>
              </a:solidFill>
              <a:effectLst/>
              <a:uLnTx/>
              <a:uFillTx/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66584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j-ea"/>
                <a:cs typeface="Courier New" panose="02070309020205020404" pitchFamily="49" charset="0"/>
              </a:rPr>
              <a:t>For plotting, we can use the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j-ea"/>
                <a:cs typeface="Courier New" panose="02070309020205020404" pitchFamily="49" charset="0"/>
              </a:rPr>
              <a:t>PyPlot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j-ea"/>
                <a:cs typeface="Courier New" panose="020703090202050204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j-ea"/>
                <a:cs typeface="Courier New" panose="02070309020205020404" pitchFamily="49" charset="0"/>
              </a:rPr>
              <a:t>submodule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j-ea"/>
                <a:cs typeface="Courier New" panose="02070309020205020404" pitchFamily="49" charset="0"/>
              </a:rPr>
              <a:t> from the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j-ea"/>
                <a:cs typeface="Courier New" panose="02070309020205020404" pitchFamily="49" charset="0"/>
              </a:rPr>
              <a:t>MatplotLib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j-ea"/>
                <a:cs typeface="Courier New" panose="02070309020205020404" pitchFamily="49" charset="0"/>
              </a:rPr>
              <a:t> module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06552" y="1630680"/>
            <a:ext cx="11277600" cy="422148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>
              <a:defRPr/>
            </a:pP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619D"/>
              </a:solidFill>
              <a:effectLst/>
              <a:uLnTx/>
              <a:uFillTx/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lvl="0">
              <a:defRPr/>
            </a:pP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 =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([1, 2, 3, 4, 5, 6, 7, 8, 9, 10])</a:t>
            </a:r>
          </a:p>
          <a:p>
            <a:pPr lvl="0">
              <a:defRPr/>
            </a:pP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speed =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([0, 1, 3, 7, 15, 23, 27, 29 ,30, 30])</a:t>
            </a:r>
          </a:p>
          <a:p>
            <a:pPr lvl="0">
              <a:defRPr/>
            </a:pPr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>
              <a:defRPr/>
            </a:pP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(time, speed)</a:t>
            </a:r>
          </a:p>
          <a:p>
            <a:pPr lvl="0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619D"/>
              </a:solidFill>
              <a:effectLst/>
              <a:uLnTx/>
              <a:uFillTx/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  <a:p>
            <a:pPr lvl="0">
              <a:defRPr/>
            </a:pP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0619D"/>
              </a:solidFill>
              <a:effectLst/>
              <a:uLnTx/>
              <a:uFillTx/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66" y="3429000"/>
            <a:ext cx="4673600" cy="314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3100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4400" cap="none" dirty="0">
                <a:solidFill>
                  <a:srgbClr val="2A3E61"/>
                </a:solidFill>
              </a:rPr>
              <a:t>Plotting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4840" y="1630680"/>
            <a:ext cx="11277600" cy="301752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66584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endParaRPr lang="en-US" sz="2400" cap="none" dirty="0">
              <a:solidFill>
                <a:prstClr val="black"/>
              </a:solidFill>
              <a:cs typeface="Courier New" panose="02070309020205020404" pitchFamily="49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24840" y="1630680"/>
            <a:ext cx="11277600" cy="422148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matplotlib.pyplot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</a:t>
            </a:r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 =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([1, 2, 3, 4, 5, 6, 7, 8, 9, 10])</a:t>
            </a:r>
          </a:p>
          <a:p>
            <a:pPr>
              <a:defRPr/>
            </a:pP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speed = </a:t>
            </a: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np.array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([0, 1, 3, 7, 15, 23, 27, 29 ,30, 30])</a:t>
            </a:r>
          </a:p>
          <a:p>
            <a:pPr>
              <a:defRPr/>
            </a:pPr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sz="2400" i="1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plt.scatter</a:t>
            </a:r>
            <a:r>
              <a:rPr lang="en-US" sz="2400" i="1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(time, speed)</a:t>
            </a:r>
          </a:p>
          <a:p>
            <a:pPr>
              <a:defRPr/>
            </a:pPr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n-U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n-U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66" y="3429000"/>
            <a:ext cx="4673601" cy="314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3972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4400" cap="none" dirty="0">
                <a:solidFill>
                  <a:srgbClr val="2A3E61"/>
                </a:solidFill>
              </a:rPr>
              <a:t>Plotting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4840" y="1630680"/>
            <a:ext cx="11277600" cy="301752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66584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Multiple plots can be made in the same graph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24840" y="1630680"/>
            <a:ext cx="11277600" cy="422148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[1, 2, 3, 4, 5]</a:t>
            </a:r>
          </a:p>
          <a:p>
            <a:pPr>
              <a:defRPr/>
            </a:pPr>
            <a:endParaRPr lang="es-E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y1 = [1, 2, 3, 4, 5]</a:t>
            </a:r>
          </a:p>
          <a:p>
            <a:pPr>
              <a:defRPr/>
            </a:pP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y2 = [2, 2, 2, 2, 2]</a:t>
            </a:r>
          </a:p>
          <a:p>
            <a:pPr>
              <a:defRPr/>
            </a:pP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y3 = [7, 5, 4, 5, 7]</a:t>
            </a:r>
          </a:p>
          <a:p>
            <a:pPr>
              <a:defRPr/>
            </a:pPr>
            <a:endParaRPr lang="es-E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s-E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(x, y1, 'r')</a:t>
            </a:r>
          </a:p>
          <a:p>
            <a:pPr>
              <a:defRPr/>
            </a:pPr>
            <a:r>
              <a:rPr lang="es-E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(x, y2, 'b')</a:t>
            </a:r>
          </a:p>
          <a:p>
            <a:pPr>
              <a:defRPr/>
            </a:pPr>
            <a:r>
              <a:rPr lang="es-E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(x, y3, 'g')</a:t>
            </a:r>
          </a:p>
          <a:p>
            <a:pPr>
              <a:defRPr/>
            </a:pPr>
            <a:endParaRPr lang="es-E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s-E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290" y="3436315"/>
            <a:ext cx="4597402" cy="314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5335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4400" cap="none" dirty="0">
                <a:solidFill>
                  <a:srgbClr val="2A3E61"/>
                </a:solidFill>
              </a:rPr>
              <a:t>Plotting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4840" y="1630680"/>
            <a:ext cx="11277600" cy="301752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66584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Plots can be marked using a ‘marker line color’ string argument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24840" y="1630680"/>
            <a:ext cx="11277600" cy="422148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[1, 2, 3, 4, 5]</a:t>
            </a:r>
          </a:p>
          <a:p>
            <a:pPr>
              <a:defRPr/>
            </a:pPr>
            <a:endParaRPr lang="es-E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y1 = [1, 2, 3, 4, 5]</a:t>
            </a:r>
          </a:p>
          <a:p>
            <a:pPr>
              <a:defRPr/>
            </a:pP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y2 = [2, 3, 2, 2, 2]</a:t>
            </a:r>
          </a:p>
          <a:p>
            <a:pPr>
              <a:defRPr/>
            </a:pP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y3 = [7, 5, 4, 5, 7]</a:t>
            </a:r>
          </a:p>
          <a:p>
            <a:pPr>
              <a:defRPr/>
            </a:pP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y4 = [8, 6, 5, 6, 8]</a:t>
            </a:r>
          </a:p>
          <a:p>
            <a:pPr>
              <a:defRPr/>
            </a:pPr>
            <a:endParaRPr lang="es-E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s-E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(x, y1, '</a:t>
            </a:r>
            <a:r>
              <a:rPr lang="es-E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xr</a:t>
            </a: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>
              <a:defRPr/>
            </a:pPr>
            <a:r>
              <a:rPr lang="es-E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(x, y2, 'o-b')</a:t>
            </a:r>
          </a:p>
          <a:p>
            <a:pPr>
              <a:defRPr/>
            </a:pPr>
            <a:r>
              <a:rPr lang="es-E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(x, y3, '</a:t>
            </a:r>
            <a:r>
              <a:rPr lang="es-E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o:m</a:t>
            </a: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>
              <a:defRPr/>
            </a:pPr>
            <a:r>
              <a:rPr lang="es-E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(x, y4, 's--k')</a:t>
            </a:r>
          </a:p>
          <a:p>
            <a:pPr>
              <a:defRPr/>
            </a:pPr>
            <a:endParaRPr lang="es-E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s-E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291" y="3433614"/>
            <a:ext cx="4597402" cy="314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4866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548640" y="295425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4400" cap="none" dirty="0">
                <a:solidFill>
                  <a:srgbClr val="2A3E61"/>
                </a:solidFill>
              </a:rPr>
              <a:t>Plotting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624840" y="1630680"/>
            <a:ext cx="11277600" cy="301752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548640" y="1153550"/>
            <a:ext cx="10649243" cy="1665849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cap="none" dirty="0">
                <a:solidFill>
                  <a:prstClr val="black"/>
                </a:solidFill>
                <a:cs typeface="Courier New" panose="02070309020205020404" pitchFamily="49" charset="0"/>
              </a:rPr>
              <a:t>3-D plots can also be implemented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24840" y="1630680"/>
            <a:ext cx="11277600" cy="422148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[1, 2, 3, 4, 5, 1, 2, 3, 4, 5]</a:t>
            </a:r>
          </a:p>
          <a:p>
            <a:pPr>
              <a:defRPr/>
            </a:pP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y1 = [1, 2, 3, 4, 5, 6, 7, 8, 9, 10]</a:t>
            </a:r>
          </a:p>
          <a:p>
            <a:pPr>
              <a:defRPr/>
            </a:pP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y2 = [2, 3, 2, 2, 2, 3, 3, 2, 2, 2]</a:t>
            </a:r>
          </a:p>
          <a:p>
            <a:pPr>
              <a:defRPr/>
            </a:pPr>
            <a:endParaRPr lang="es-E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endParaRPr lang="es-E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s-E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</a:t>
            </a: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E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plt.axes</a:t>
            </a: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E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projection</a:t>
            </a: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="3d")</a:t>
            </a:r>
          </a:p>
          <a:p>
            <a:pPr>
              <a:defRPr/>
            </a:pP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ax.scatter3D(x, y1, y2, color = "r")</a:t>
            </a:r>
          </a:p>
          <a:p>
            <a:pPr>
              <a:defRPr/>
            </a:pPr>
            <a:endParaRPr lang="es-E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/>
            </a:pPr>
            <a:r>
              <a:rPr lang="es-ES" sz="2400" cap="none" dirty="0" err="1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plt.show</a:t>
            </a:r>
            <a:r>
              <a:rPr lang="es-ES" sz="2400" cap="none" dirty="0">
                <a:solidFill>
                  <a:srgbClr val="40619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2400" cap="none" dirty="0">
              <a:solidFill>
                <a:srgbClr val="40619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5537" y="3210690"/>
            <a:ext cx="3149600" cy="307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0224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1"/>
            <a:ext cx="12192000" cy="1252025"/>
          </a:xfrm>
          <a:prstGeom prst="rect">
            <a:avLst/>
          </a:prstGeom>
          <a:solidFill>
            <a:srgbClr val="2A3E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548640" y="267289"/>
            <a:ext cx="7512148" cy="703384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kern="1200" cap="all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cap="none" dirty="0">
                <a:solidFill>
                  <a:schemeClr val="bg1"/>
                </a:solidFill>
              </a:rPr>
              <a:t>Lab Tasks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745B62-F9F6-45FA-3269-784092BDEEE1}"/>
              </a:ext>
            </a:extLst>
          </p:cNvPr>
          <p:cNvSpPr txBox="1">
            <a:spLocks/>
          </p:cNvSpPr>
          <p:nvPr/>
        </p:nvSpPr>
        <p:spPr>
          <a:xfrm>
            <a:off x="581192" y="1571737"/>
            <a:ext cx="11029615" cy="3838463"/>
          </a:xfrm>
          <a:prstGeom prst="rect">
            <a:avLst/>
          </a:prstGeom>
        </p:spPr>
        <p:txBody>
          <a:bodyPr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2C68B1"/>
              </a:buClr>
            </a:pPr>
            <a:r>
              <a:rPr lang="en-US" sz="2800" dirty="0">
                <a:latin typeface="+mj-lt"/>
              </a:rPr>
              <a:t>Download the Lab Material</a:t>
            </a:r>
          </a:p>
          <a:p>
            <a:pPr>
              <a:buClr>
                <a:srgbClr val="2C68B1"/>
              </a:buClr>
            </a:pPr>
            <a:r>
              <a:rPr lang="en-US" sz="2800" dirty="0">
                <a:latin typeface="+mj-lt"/>
              </a:rPr>
              <a:t>Perform the Lab Tasks given in the manual</a:t>
            </a:r>
          </a:p>
          <a:p>
            <a:pPr>
              <a:buClr>
                <a:srgbClr val="2C68B1"/>
              </a:buClr>
            </a:pPr>
            <a:r>
              <a:rPr lang="en-US" sz="2800" dirty="0">
                <a:latin typeface="+mj-lt"/>
              </a:rPr>
              <a:t>Submit the saved manual in PDF form</a:t>
            </a:r>
          </a:p>
          <a:p>
            <a:pPr>
              <a:buClr>
                <a:srgbClr val="2C68B1"/>
              </a:buClr>
            </a:pPr>
            <a:r>
              <a:rPr lang="en-US" sz="2800" dirty="0">
                <a:latin typeface="+mj-lt"/>
              </a:rPr>
              <a:t>Remember to delete your manual after completing the lab session</a:t>
            </a:r>
          </a:p>
          <a:p>
            <a:pPr marL="0" indent="0" algn="ctr">
              <a:lnSpc>
                <a:spcPct val="150000"/>
              </a:lnSpc>
              <a:buClr>
                <a:srgbClr val="2C68B1"/>
              </a:buClr>
              <a:buNone/>
            </a:pPr>
            <a:endParaRPr lang="en-US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09860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1_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3.xml><?xml version="1.0" encoding="utf-8"?>
<a:theme xmlns:a="http://schemas.openxmlformats.org/drawingml/2006/main" name="2_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1572</TotalTime>
  <Words>1187</Words>
  <Application>Microsoft Office PowerPoint</Application>
  <PresentationFormat>Widescreen</PresentationFormat>
  <Paragraphs>171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Cambria Math</vt:lpstr>
      <vt:lpstr>Courier New</vt:lpstr>
      <vt:lpstr>Gill Sans MT</vt:lpstr>
      <vt:lpstr>Wingdings 2</vt:lpstr>
      <vt:lpstr>Dividend</vt:lpstr>
      <vt:lpstr>1_Dividend</vt:lpstr>
      <vt:lpstr>2_Dividend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ems</dc:creator>
  <cp:lastModifiedBy>Irfa Farooq</cp:lastModifiedBy>
  <cp:revision>358</cp:revision>
  <dcterms:created xsi:type="dcterms:W3CDTF">2022-08-25T07:12:22Z</dcterms:created>
  <dcterms:modified xsi:type="dcterms:W3CDTF">2025-10-08T14:01:51Z</dcterms:modified>
</cp:coreProperties>
</file>